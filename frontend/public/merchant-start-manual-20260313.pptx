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9579"/>
    <a:srgbClr val="6469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7699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EB4FF-7CE6-C657-61E6-797914B0B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F9DF1D-5349-E23F-20CD-F389AC43E1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86942D-E8DF-308E-4568-499B62D24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BC5728-7BBA-87D4-8381-EA2E1B45C2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6044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6.png"/><Relationship Id="rId3" Type="http://schemas.openxmlformats.org/officeDocument/2006/relationships/image" Target="../media/image12.png"/><Relationship Id="rId21" Type="http://schemas.openxmlformats.org/officeDocument/2006/relationships/image" Target="../media/image29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24" Type="http://schemas.openxmlformats.org/officeDocument/2006/relationships/image" Target="../media/image32.png"/><Relationship Id="rId5" Type="http://schemas.openxmlformats.org/officeDocument/2006/relationships/image" Target="../media/image14.png"/><Relationship Id="rId15" Type="http://schemas.openxmlformats.org/officeDocument/2006/relationships/image" Target="../media/image5.png"/><Relationship Id="rId23" Type="http://schemas.openxmlformats.org/officeDocument/2006/relationships/image" Target="../media/image31.png"/><Relationship Id="rId10" Type="http://schemas.openxmlformats.org/officeDocument/2006/relationships/image" Target="../media/image19.png"/><Relationship Id="rId19" Type="http://schemas.openxmlformats.org/officeDocument/2006/relationships/image" Target="../media/image27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2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34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34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34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11" Type="http://schemas.openxmlformats.org/officeDocument/2006/relationships/image" Target="../media/image66.png"/><Relationship Id="rId5" Type="http://schemas.openxmlformats.org/officeDocument/2006/relationships/image" Target="../media/image61.png"/><Relationship Id="rId10" Type="http://schemas.openxmlformats.org/officeDocument/2006/relationships/image" Target="../media/image51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18" Type="http://schemas.openxmlformats.org/officeDocument/2006/relationships/image" Target="../media/image80.png"/><Relationship Id="rId3" Type="http://schemas.openxmlformats.org/officeDocument/2006/relationships/image" Target="../media/image34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17" Type="http://schemas.openxmlformats.org/officeDocument/2006/relationships/image" Target="../media/image79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10" Type="http://schemas.openxmlformats.org/officeDocument/2006/relationships/image" Target="../media/image72.png"/><Relationship Id="rId19" Type="http://schemas.openxmlformats.org/officeDocument/2006/relationships/image" Target="../media/image81.png"/><Relationship Id="rId4" Type="http://schemas.openxmlformats.org/officeDocument/2006/relationships/image" Target="../media/image60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34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11" Type="http://schemas.openxmlformats.org/officeDocument/2006/relationships/image" Target="../media/image88.png"/><Relationship Id="rId5" Type="http://schemas.openxmlformats.org/officeDocument/2006/relationships/image" Target="../media/image83.png"/><Relationship Id="rId10" Type="http://schemas.openxmlformats.org/officeDocument/2006/relationships/image" Target="../media/image87.png"/><Relationship Id="rId4" Type="http://schemas.openxmlformats.org/officeDocument/2006/relationships/image" Target="../media/image82.png"/><Relationship Id="rId9" Type="http://schemas.openxmlformats.org/officeDocument/2006/relationships/image" Target="../media/image8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98.png"/><Relationship Id="rId3" Type="http://schemas.openxmlformats.org/officeDocument/2006/relationships/image" Target="../media/image12.png"/><Relationship Id="rId7" Type="http://schemas.openxmlformats.org/officeDocument/2006/relationships/image" Target="../media/image92.png"/><Relationship Id="rId12" Type="http://schemas.openxmlformats.org/officeDocument/2006/relationships/image" Target="../media/image9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5" Type="http://schemas.openxmlformats.org/officeDocument/2006/relationships/image" Target="../media/image90.png"/><Relationship Id="rId15" Type="http://schemas.openxmlformats.org/officeDocument/2006/relationships/image" Target="../media/image100.png"/><Relationship Id="rId10" Type="http://schemas.openxmlformats.org/officeDocument/2006/relationships/image" Target="../media/image95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Relationship Id="rId14" Type="http://schemas.openxmlformats.org/officeDocument/2006/relationships/image" Target="../media/image9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16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60000"/>
          </a:blip>
          <a:srcRect/>
          <a:stretch/>
        </p:blipFill>
        <p:spPr>
          <a:xfrm>
            <a:off x="0" y="3810305"/>
            <a:ext cx="3047695" cy="304769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16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2191695" cy="152705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16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Shape 5"/>
          <p:cNvSpPr/>
          <p:nvPr/>
        </p:nvSpPr>
        <p:spPr>
          <a:xfrm>
            <a:off x="9465443" y="458314"/>
            <a:ext cx="2151007" cy="342900"/>
          </a:xfrm>
          <a:prstGeom prst="roundRect">
            <a:avLst>
              <a:gd name="adj" fmla="val 266667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16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9628612" y="522617"/>
            <a:ext cx="2140491" cy="245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900" b="1" dirty="0">
                <a:solidFill>
                  <a:srgbClr val="065F46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掲載店さま</a:t>
            </a:r>
            <a:r>
              <a:rPr lang="en-US" sz="900" b="1" dirty="0">
                <a:solidFill>
                  <a:srgbClr val="065F46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向け</a:t>
            </a:r>
            <a:r>
              <a:rPr lang="ja-JP" altLang="en-US" sz="900" b="1" dirty="0">
                <a:solidFill>
                  <a:srgbClr val="065F46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　管理画面マニュアル</a:t>
            </a:r>
            <a:endParaRPr lang="en-US" sz="9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3" name="Text 8"/>
          <p:cNvSpPr txBox="1"/>
          <p:nvPr/>
        </p:nvSpPr>
        <p:spPr>
          <a:xfrm>
            <a:off x="2291929" y="1483930"/>
            <a:ext cx="7987991" cy="991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b="1" kern="0" spc="-112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 </a:t>
            </a:r>
            <a:r>
              <a:rPr lang="ja-JP" altLang="en-US" sz="3600" b="1" kern="0" spc="-112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たまのみ</a:t>
            </a:r>
            <a:r>
              <a:rPr lang="en-US" sz="3600" b="1" kern="0" spc="-112" dirty="0" err="1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掲載店</a:t>
            </a:r>
            <a:r>
              <a:rPr lang="en-US" sz="3600" b="1" kern="0" spc="-112" dirty="0" err="1">
                <a:solidFill>
                  <a:srgbClr val="10B98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スタート</a:t>
            </a:r>
            <a:r>
              <a:rPr lang="en-US" sz="3600" b="1" kern="0" spc="-112" dirty="0" err="1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マニュアル</a:t>
            </a:r>
            <a:r>
              <a:rPr lang="en-US" sz="3600" b="1" kern="0" spc="-112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 </a:t>
            </a:r>
            <a:br>
              <a:rPr lang="en-US" sz="3600" b="1" kern="0" spc="-112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</a:br>
            <a:r>
              <a:rPr lang="ja-JP" altLang="en-US" sz="3600" b="1" kern="0" spc="-112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（店舗登録ガイド）</a:t>
            </a:r>
            <a:endParaRPr lang="en-US" sz="3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rcRect l="-188" r="-188"/>
          <a:stretch/>
        </p:blipFill>
        <p:spPr>
          <a:xfrm>
            <a:off x="5486400" y="3011821"/>
            <a:ext cx="1218895" cy="75895"/>
          </a:xfrm>
          <a:prstGeom prst="rect">
            <a:avLst/>
          </a:prstGeom>
        </p:spPr>
      </p:pic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rcRect l="-11" r="-11"/>
          <a:stretch/>
        </p:blipFill>
        <p:spPr>
          <a:xfrm>
            <a:off x="609905" y="3392212"/>
            <a:ext cx="3454603" cy="2247595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2031797" y="3640014"/>
            <a:ext cx="609905" cy="609905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16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7"/>
          <a:srcRect t="-9587" b="-9587"/>
          <a:stretch/>
        </p:blipFill>
        <p:spPr>
          <a:xfrm>
            <a:off x="2174443" y="3773516"/>
            <a:ext cx="323698" cy="34290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2108606" y="4401709"/>
            <a:ext cx="4572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対象</a:t>
            </a:r>
            <a:endParaRPr 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9" name="Text 11"/>
          <p:cNvSpPr txBox="1"/>
          <p:nvPr/>
        </p:nvSpPr>
        <p:spPr>
          <a:xfrm>
            <a:off x="1582825" y="4744609"/>
            <a:ext cx="15819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飲食店オーナー</a:t>
            </a:r>
            <a:r>
              <a:rPr lang="ja-JP" altLang="en-US" sz="11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さま向け</a:t>
            </a:r>
            <a:endParaRPr lang="en-US" sz="11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店舗担当者</a:t>
            </a:r>
            <a:r>
              <a:rPr lang="ja-JP" altLang="en-US" sz="11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さま向け</a:t>
            </a:r>
            <a:endParaRPr lang="en-US" sz="11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rcRect l="-9" r="-9"/>
          <a:stretch/>
        </p:blipFill>
        <p:spPr>
          <a:xfrm>
            <a:off x="4369003" y="3392212"/>
            <a:ext cx="3454603" cy="2247595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5790895" y="3640014"/>
            <a:ext cx="609905" cy="609905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16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9"/>
          <a:srcRect t="-10540" b="-10540"/>
          <a:stretch/>
        </p:blipFill>
        <p:spPr>
          <a:xfrm>
            <a:off x="5971946" y="3773516"/>
            <a:ext cx="247802" cy="342900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5676595" y="4401709"/>
            <a:ext cx="8385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所要時間</a:t>
            </a:r>
            <a:endParaRPr 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4" name="Text 14"/>
          <p:cNvSpPr txBox="1"/>
          <p:nvPr/>
        </p:nvSpPr>
        <p:spPr>
          <a:xfrm>
            <a:off x="5605272" y="4744609"/>
            <a:ext cx="98663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10〜15</a:t>
            </a:r>
            <a:r>
              <a:rPr lang="en-US" sz="11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分</a:t>
            </a:r>
            <a:endParaRPr lang="en-US" sz="1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5" name="Text 15"/>
          <p:cNvSpPr txBox="1"/>
          <p:nvPr/>
        </p:nvSpPr>
        <p:spPr>
          <a:xfrm>
            <a:off x="5657393" y="5087509"/>
            <a:ext cx="8860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作業時間の目安</a:t>
            </a:r>
            <a:endParaRPr lang="en-US" sz="8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6"/>
          <a:srcRect l="-11" r="-11"/>
          <a:stretch/>
        </p:blipFill>
        <p:spPr>
          <a:xfrm>
            <a:off x="8128102" y="3392212"/>
            <a:ext cx="3454603" cy="2247595"/>
          </a:xfrm>
          <a:prstGeom prst="rect">
            <a:avLst/>
          </a:prstGeom>
        </p:spPr>
      </p:pic>
      <p:sp>
        <p:nvSpPr>
          <p:cNvPr id="27" name="Shape 16"/>
          <p:cNvSpPr/>
          <p:nvPr/>
        </p:nvSpPr>
        <p:spPr>
          <a:xfrm>
            <a:off x="9549994" y="3640014"/>
            <a:ext cx="609905" cy="609905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16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10"/>
          <a:srcRect t="-9904" b="-9904"/>
          <a:stretch/>
        </p:blipFill>
        <p:spPr>
          <a:xfrm>
            <a:off x="9711842" y="3773516"/>
            <a:ext cx="286207" cy="342900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8521294" y="4401709"/>
            <a:ext cx="2667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このマニュアルでできること</a:t>
            </a:r>
            <a:endParaRPr 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0" name="Text 18"/>
          <p:cNvSpPr txBox="1"/>
          <p:nvPr/>
        </p:nvSpPr>
        <p:spPr>
          <a:xfrm>
            <a:off x="8982659" y="4744609"/>
            <a:ext cx="29626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店舗情報の登録</a:t>
            </a:r>
            <a:endParaRPr lang="en-US" sz="9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1" name="Text 19"/>
          <p:cNvSpPr txBox="1"/>
          <p:nvPr/>
        </p:nvSpPr>
        <p:spPr>
          <a:xfrm>
            <a:off x="8982659" y="4973209"/>
            <a:ext cx="29626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クーポン情報の登録</a:t>
            </a:r>
            <a:endParaRPr lang="en-US" sz="9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2" name="Text 20"/>
          <p:cNvSpPr txBox="1"/>
          <p:nvPr/>
        </p:nvSpPr>
        <p:spPr>
          <a:xfrm>
            <a:off x="8982659" y="5201809"/>
            <a:ext cx="29626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掲載開始までの流れ</a:t>
            </a:r>
            <a:r>
              <a:rPr lang="ja-JP" altLang="en-US" sz="9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の</a:t>
            </a:r>
            <a:r>
              <a:rPr lang="en-US" sz="900" dirty="0" err="1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把握</a:t>
            </a:r>
            <a:endParaRPr lang="en-US" sz="9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11"/>
          <a:srcRect t="-1100" b="-1100"/>
          <a:stretch/>
        </p:blipFill>
        <p:spPr>
          <a:xfrm>
            <a:off x="8792464" y="4780271"/>
            <a:ext cx="114300" cy="133502"/>
          </a:xfrm>
          <a:prstGeom prst="rect">
            <a:avLst/>
          </a:prstGeom>
        </p:spPr>
      </p:pic>
      <p:pic>
        <p:nvPicPr>
          <p:cNvPr id="34" name="Image 11" descr="preencoded.png"/>
          <p:cNvPicPr>
            <a:picLocks noChangeAspect="1"/>
          </p:cNvPicPr>
          <p:nvPr/>
        </p:nvPicPr>
        <p:blipFill>
          <a:blip r:embed="rId11"/>
          <a:srcRect t="-1100" b="-1100"/>
          <a:stretch/>
        </p:blipFill>
        <p:spPr>
          <a:xfrm>
            <a:off x="8792464" y="5008871"/>
            <a:ext cx="114300" cy="133502"/>
          </a:xfrm>
          <a:prstGeom prst="rect">
            <a:avLst/>
          </a:prstGeom>
        </p:spPr>
      </p:pic>
      <p:pic>
        <p:nvPicPr>
          <p:cNvPr id="35" name="Image 12" descr="preencoded.png"/>
          <p:cNvPicPr>
            <a:picLocks noChangeAspect="1"/>
          </p:cNvPicPr>
          <p:nvPr/>
        </p:nvPicPr>
        <p:blipFill>
          <a:blip r:embed="rId11"/>
          <a:srcRect t="-1100" b="-1100"/>
          <a:stretch/>
        </p:blipFill>
        <p:spPr>
          <a:xfrm>
            <a:off x="8792464" y="5237471"/>
            <a:ext cx="114300" cy="133502"/>
          </a:xfrm>
          <a:prstGeom prst="rect">
            <a:avLst/>
          </a:prstGeom>
        </p:spPr>
      </p:pic>
      <p:sp>
        <p:nvSpPr>
          <p:cNvPr id="36" name="Shape 21"/>
          <p:cNvSpPr/>
          <p:nvPr/>
        </p:nvSpPr>
        <p:spPr>
          <a:xfrm>
            <a:off x="457200" y="5874878"/>
            <a:ext cx="11277295" cy="705002"/>
          </a:xfrm>
          <a:prstGeom prst="roundRect">
            <a:avLst>
              <a:gd name="adj" fmla="val 4206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 sz="16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7" name="Shape 22"/>
          <p:cNvSpPr/>
          <p:nvPr/>
        </p:nvSpPr>
        <p:spPr>
          <a:xfrm>
            <a:off x="619049" y="6036727"/>
            <a:ext cx="381305" cy="381305"/>
          </a:xfrm>
          <a:prstGeom prst="ellipse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16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38" name="Image 13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33349" y="6151027"/>
            <a:ext cx="152705" cy="152705"/>
          </a:xfrm>
          <a:prstGeom prst="rect">
            <a:avLst/>
          </a:prstGeom>
        </p:spPr>
      </p:pic>
      <p:sp>
        <p:nvSpPr>
          <p:cNvPr id="39" name="Text 23"/>
          <p:cNvSpPr txBox="1"/>
          <p:nvPr/>
        </p:nvSpPr>
        <p:spPr>
          <a:xfrm>
            <a:off x="1152144" y="6055930"/>
            <a:ext cx="21296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お問い合わせ</a:t>
            </a:r>
            <a:endParaRPr lang="en-US" sz="8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0" name="Text 24"/>
          <p:cNvSpPr txBox="1"/>
          <p:nvPr/>
        </p:nvSpPr>
        <p:spPr>
          <a:xfrm>
            <a:off x="1152144" y="6207720"/>
            <a:ext cx="23463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7415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saitama.partners@tamanomi.com</a:t>
            </a:r>
            <a:endParaRPr lang="en-US" sz="9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1" name="Text 25"/>
          <p:cNvSpPr txBox="1"/>
          <p:nvPr/>
        </p:nvSpPr>
        <p:spPr>
          <a:xfrm>
            <a:off x="10065357" y="6131279"/>
            <a:ext cx="136885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たまのみ運営事務局</a:t>
            </a:r>
          </a:p>
          <a:p>
            <a:pPr algn="r">
              <a:lnSpc>
                <a:spcPct val="150000"/>
              </a:lnSpc>
            </a:pPr>
            <a:r>
              <a:rPr lang="en-US" altLang="ja-JP" sz="800" dirty="0">
                <a:solidFill>
                  <a:srgbClr val="9CA3A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株式会社つなぐ</a:t>
            </a:r>
            <a:endParaRPr lang="en-US" altLang="ja-JP" sz="8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 algn="r">
              <a:lnSpc>
                <a:spcPct val="150000"/>
              </a:lnSpc>
              <a:buNone/>
            </a:pPr>
            <a:endParaRPr lang="en-US" sz="8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44" name="図 43" descr="￣ﾁﾟ￣ﾁﾾ￣ﾁﾮ￣ﾁ﾿&#10;&#10;AI 生成コンテンツは誤りを含む可能性があります。">
            <a:extLst>
              <a:ext uri="{FF2B5EF4-FFF2-40B4-BE49-F238E27FC236}">
                <a16:creationId xmlns:a16="http://schemas.microsoft.com/office/drawing/2014/main" id="{828230AB-EBE8-8EB0-D41C-B4B6FE767D7B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24994" t="19307" r="26609" b="6106"/>
          <a:stretch>
            <a:fillRect/>
          </a:stretch>
        </p:blipFill>
        <p:spPr>
          <a:xfrm>
            <a:off x="1000354" y="1305584"/>
            <a:ext cx="1673007" cy="16114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71500" y="991210"/>
            <a:ext cx="11048695" cy="1920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381305"/>
            <a:ext cx="457200" cy="4572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16600" b="-16600"/>
          <a:stretch/>
        </p:blipFill>
        <p:spPr>
          <a:xfrm>
            <a:off x="685800" y="457200"/>
            <a:ext cx="228600" cy="3044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81405" y="409651"/>
            <a:ext cx="587410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掲載までの流れ </a:t>
            </a:r>
            <a:r>
              <a:rPr lang="en-US" sz="1800" b="1" kern="0" spc="-67" dirty="0">
                <a:solidFill>
                  <a:srgbClr val="6B728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（全5ステップ）</a:t>
            </a:r>
            <a:endParaRPr lang="en-US" sz="27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t="-4" b="-4"/>
          <a:stretch/>
        </p:blipFill>
        <p:spPr>
          <a:xfrm>
            <a:off x="571500" y="1828800"/>
            <a:ext cx="2087575" cy="182880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rcRect l="-432" r="-432"/>
          <a:stretch/>
        </p:blipFill>
        <p:spPr>
          <a:xfrm>
            <a:off x="1322222" y="1733702"/>
            <a:ext cx="590702" cy="2286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293876" y="1733702"/>
            <a:ext cx="648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STEP 1</a:t>
            </a:r>
            <a:endParaRPr lang="en-US" sz="9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rcRect t="-9587" b="-9587"/>
          <a:stretch/>
        </p:blipFill>
        <p:spPr>
          <a:xfrm>
            <a:off x="1453896" y="2152498"/>
            <a:ext cx="323698" cy="34290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234440" y="2584094"/>
            <a:ext cx="762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掲載申込</a:t>
            </a:r>
            <a:endParaRPr lang="en-US" sz="13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3" name="Text 6"/>
          <p:cNvSpPr txBox="1"/>
          <p:nvPr/>
        </p:nvSpPr>
        <p:spPr>
          <a:xfrm>
            <a:off x="1135685" y="2898750"/>
            <a:ext cx="96286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Webフォームから</a:t>
            </a:r>
            <a:endParaRPr lang="en-US" sz="9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必要事項を入力</a:t>
            </a:r>
            <a:endParaRPr lang="en-US" sz="9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rcRect t="-8" b="-8"/>
          <a:stretch/>
        </p:blipFill>
        <p:spPr>
          <a:xfrm>
            <a:off x="2811780" y="1828800"/>
            <a:ext cx="2087575" cy="1828800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rcRect l="-38" r="-38"/>
          <a:stretch/>
        </p:blipFill>
        <p:spPr>
          <a:xfrm>
            <a:off x="3560674" y="1733702"/>
            <a:ext cx="590702" cy="22860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3531413" y="1733702"/>
            <a:ext cx="648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STEP 2</a:t>
            </a:r>
            <a:endParaRPr lang="en-US" sz="9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10"/>
          <a:srcRect t="-9904" b="-9904"/>
          <a:stretch/>
        </p:blipFill>
        <p:spPr>
          <a:xfrm>
            <a:off x="3712464" y="2152498"/>
            <a:ext cx="286207" cy="342900"/>
          </a:xfrm>
          <a:prstGeom prst="rect">
            <a:avLst/>
          </a:prstGeom>
        </p:spPr>
      </p:pic>
      <p:sp>
        <p:nvSpPr>
          <p:cNvPr id="18" name="Text 8"/>
          <p:cNvSpPr txBox="1"/>
          <p:nvPr/>
        </p:nvSpPr>
        <p:spPr>
          <a:xfrm>
            <a:off x="3207715" y="2584094"/>
            <a:ext cx="129661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アカウント発行</a:t>
            </a:r>
            <a:endParaRPr lang="en-US" sz="13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9" name="Text 9"/>
          <p:cNvSpPr txBox="1"/>
          <p:nvPr/>
        </p:nvSpPr>
        <p:spPr>
          <a:xfrm>
            <a:off x="3369564" y="2898750"/>
            <a:ext cx="9811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メールを受信して</a:t>
            </a:r>
            <a:endParaRPr lang="en-US" sz="9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パスワード設定</a:t>
            </a:r>
            <a:endParaRPr lang="en-US" sz="9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8"/>
          <a:srcRect t="-8" b="-8"/>
          <a:stretch/>
        </p:blipFill>
        <p:spPr>
          <a:xfrm>
            <a:off x="5052060" y="1828800"/>
            <a:ext cx="2087575" cy="1828800"/>
          </a:xfrm>
          <a:prstGeom prst="rect">
            <a:avLst/>
          </a:prstGeom>
        </p:spPr>
      </p:pic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11"/>
          <a:srcRect l="-494" r="-494"/>
          <a:stretch/>
        </p:blipFill>
        <p:spPr>
          <a:xfrm>
            <a:off x="5799125" y="1733702"/>
            <a:ext cx="599846" cy="228600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5769864" y="1733702"/>
            <a:ext cx="657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STEP 3</a:t>
            </a:r>
            <a:endParaRPr lang="en-US" sz="9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12"/>
          <a:srcRect t="-9904" b="-9904"/>
          <a:stretch/>
        </p:blipFill>
        <p:spPr>
          <a:xfrm>
            <a:off x="5952744" y="2152498"/>
            <a:ext cx="286207" cy="342900"/>
          </a:xfrm>
          <a:prstGeom prst="rect">
            <a:avLst/>
          </a:prstGeom>
        </p:spPr>
      </p:pic>
      <p:sp>
        <p:nvSpPr>
          <p:cNvPr id="24" name="Text 11"/>
          <p:cNvSpPr txBox="1"/>
          <p:nvPr/>
        </p:nvSpPr>
        <p:spPr>
          <a:xfrm>
            <a:off x="5724144" y="2584094"/>
            <a:ext cx="743407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管理画面</a:t>
            </a:r>
            <a:endParaRPr lang="en-US" sz="13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ログイン</a:t>
            </a:r>
            <a:endParaRPr lang="en-US" sz="13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5" name="Text 12"/>
          <p:cNvSpPr txBox="1"/>
          <p:nvPr/>
        </p:nvSpPr>
        <p:spPr>
          <a:xfrm>
            <a:off x="5600700" y="3165754"/>
            <a:ext cx="10003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事業者情報の確認</a:t>
            </a:r>
            <a:endParaRPr lang="en-US" sz="9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6" name="Image 11" descr="preencoded.png"/>
          <p:cNvPicPr>
            <a:picLocks noChangeAspect="1"/>
          </p:cNvPicPr>
          <p:nvPr/>
        </p:nvPicPr>
        <p:blipFill>
          <a:blip r:embed="rId13"/>
          <a:srcRect t="-8" b="-8"/>
          <a:stretch/>
        </p:blipFill>
        <p:spPr>
          <a:xfrm>
            <a:off x="7292340" y="1828800"/>
            <a:ext cx="2087575" cy="1828800"/>
          </a:xfrm>
          <a:prstGeom prst="rect">
            <a:avLst/>
          </a:prstGeom>
        </p:spPr>
      </p:pic>
      <p:pic>
        <p:nvPicPr>
          <p:cNvPr id="27" name="Image 12" descr="preencoded.png"/>
          <p:cNvPicPr>
            <a:picLocks noChangeAspect="1"/>
          </p:cNvPicPr>
          <p:nvPr/>
        </p:nvPicPr>
        <p:blipFill>
          <a:blip r:embed="rId14"/>
          <a:srcRect l="-381" r="-381"/>
          <a:stretch/>
        </p:blipFill>
        <p:spPr>
          <a:xfrm>
            <a:off x="8038490" y="1733702"/>
            <a:ext cx="599846" cy="228600"/>
          </a:xfrm>
          <a:prstGeom prst="rect">
            <a:avLst/>
          </a:prstGeom>
        </p:spPr>
      </p:pic>
      <p:sp>
        <p:nvSpPr>
          <p:cNvPr id="28" name="Text 13"/>
          <p:cNvSpPr/>
          <p:nvPr/>
        </p:nvSpPr>
        <p:spPr>
          <a:xfrm>
            <a:off x="8010144" y="1733702"/>
            <a:ext cx="657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STEP 4</a:t>
            </a:r>
            <a:endParaRPr lang="en-US" sz="9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9" name="Image 13" descr="preencoded.png"/>
          <p:cNvPicPr>
            <a:picLocks noChangeAspect="1"/>
          </p:cNvPicPr>
          <p:nvPr/>
        </p:nvPicPr>
        <p:blipFill>
          <a:blip r:embed="rId15"/>
          <a:srcRect t="-9587" b="-9587"/>
          <a:stretch/>
        </p:blipFill>
        <p:spPr>
          <a:xfrm>
            <a:off x="8173822" y="2152498"/>
            <a:ext cx="323698" cy="342900"/>
          </a:xfrm>
          <a:prstGeom prst="rect">
            <a:avLst/>
          </a:prstGeom>
        </p:spPr>
      </p:pic>
      <p:sp>
        <p:nvSpPr>
          <p:cNvPr id="30" name="Text 14"/>
          <p:cNvSpPr txBox="1"/>
          <p:nvPr/>
        </p:nvSpPr>
        <p:spPr>
          <a:xfrm>
            <a:off x="7780630" y="2584094"/>
            <a:ext cx="111099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4785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店舗情報登録</a:t>
            </a:r>
            <a:endParaRPr lang="en-US" sz="13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1" name="Text 15"/>
          <p:cNvSpPr txBox="1"/>
          <p:nvPr/>
        </p:nvSpPr>
        <p:spPr>
          <a:xfrm>
            <a:off x="7834579" y="2898750"/>
            <a:ext cx="10104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059669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ここが重要！</a:t>
            </a:r>
            <a:endParaRPr lang="en-US" sz="9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900" b="1" dirty="0" err="1">
                <a:solidFill>
                  <a:srgbClr val="059669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PRコメント・画像</a:t>
            </a:r>
            <a:endParaRPr lang="en-US" sz="9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32" name="Image 14" descr="preencoded.png"/>
          <p:cNvPicPr>
            <a:picLocks noChangeAspect="1"/>
          </p:cNvPicPr>
          <p:nvPr/>
        </p:nvPicPr>
        <p:blipFill>
          <a:blip r:embed="rId16"/>
          <a:srcRect t="-4" b="-4"/>
          <a:stretch/>
        </p:blipFill>
        <p:spPr>
          <a:xfrm>
            <a:off x="9532620" y="1828800"/>
            <a:ext cx="2087575" cy="1828800"/>
          </a:xfrm>
          <a:prstGeom prst="rect">
            <a:avLst/>
          </a:prstGeom>
        </p:spPr>
      </p:pic>
      <p:pic>
        <p:nvPicPr>
          <p:cNvPr id="33" name="Image 15" descr="preencoded.png"/>
          <p:cNvPicPr>
            <a:picLocks noChangeAspect="1"/>
          </p:cNvPicPr>
          <p:nvPr/>
        </p:nvPicPr>
        <p:blipFill>
          <a:blip r:embed="rId17"/>
          <a:srcRect l="-608" r="-608"/>
          <a:stretch/>
        </p:blipFill>
        <p:spPr>
          <a:xfrm>
            <a:off x="10280599" y="1733702"/>
            <a:ext cx="599846" cy="228600"/>
          </a:xfrm>
          <a:prstGeom prst="rect">
            <a:avLst/>
          </a:prstGeom>
        </p:spPr>
      </p:pic>
      <p:sp>
        <p:nvSpPr>
          <p:cNvPr id="34" name="Text 16"/>
          <p:cNvSpPr/>
          <p:nvPr/>
        </p:nvSpPr>
        <p:spPr>
          <a:xfrm>
            <a:off x="10251338" y="1733702"/>
            <a:ext cx="657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STEP 5</a:t>
            </a:r>
            <a:endParaRPr lang="en-US" sz="9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35" name="Image 16" descr="preencoded.png"/>
          <p:cNvPicPr>
            <a:picLocks noChangeAspect="1"/>
          </p:cNvPicPr>
          <p:nvPr/>
        </p:nvPicPr>
        <p:blipFill>
          <a:blip r:embed="rId18"/>
          <a:srcRect t="-9587" b="-9587"/>
          <a:stretch/>
        </p:blipFill>
        <p:spPr>
          <a:xfrm>
            <a:off x="10414102" y="2152498"/>
            <a:ext cx="323698" cy="342900"/>
          </a:xfrm>
          <a:prstGeom prst="rect">
            <a:avLst/>
          </a:prstGeom>
        </p:spPr>
      </p:pic>
      <p:sp>
        <p:nvSpPr>
          <p:cNvPr id="36" name="Text 17"/>
          <p:cNvSpPr txBox="1"/>
          <p:nvPr/>
        </p:nvSpPr>
        <p:spPr>
          <a:xfrm>
            <a:off x="10020910" y="2584094"/>
            <a:ext cx="111099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4785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クーポン登録</a:t>
            </a:r>
            <a:endParaRPr lang="en-US" sz="13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7" name="Text 18"/>
          <p:cNvSpPr txBox="1"/>
          <p:nvPr/>
        </p:nvSpPr>
        <p:spPr>
          <a:xfrm>
            <a:off x="10090404" y="2898750"/>
            <a:ext cx="9811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059669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集客のカギ！</a:t>
            </a:r>
            <a:endParaRPr lang="en-US" sz="9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059669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魅力的な特典設定</a:t>
            </a:r>
            <a:endParaRPr lang="en-US" sz="9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38" name="Image 17" descr="preencoded.png"/>
          <p:cNvPicPr>
            <a:picLocks noChangeAspect="1"/>
          </p:cNvPicPr>
          <p:nvPr/>
        </p:nvPicPr>
        <p:blipFill>
          <a:blip r:embed="rId19"/>
          <a:srcRect t="-27" b="-27"/>
          <a:stretch/>
        </p:blipFill>
        <p:spPr>
          <a:xfrm>
            <a:off x="9664519" y="3810305"/>
            <a:ext cx="1848002" cy="495605"/>
          </a:xfrm>
          <a:prstGeom prst="rect">
            <a:avLst/>
          </a:prstGeom>
        </p:spPr>
      </p:pic>
      <p:pic>
        <p:nvPicPr>
          <p:cNvPr id="39" name="Image 18" descr="preencoded.png"/>
          <p:cNvPicPr>
            <a:picLocks noChangeAspect="1"/>
          </p:cNvPicPr>
          <p:nvPr/>
        </p:nvPicPr>
        <p:blipFill>
          <a:blip r:embed="rId20"/>
          <a:srcRect t="-17952" b="-17952"/>
          <a:stretch/>
        </p:blipFill>
        <p:spPr>
          <a:xfrm>
            <a:off x="9969015" y="3924605"/>
            <a:ext cx="171907" cy="267005"/>
          </a:xfrm>
          <a:prstGeom prst="rect">
            <a:avLst/>
          </a:prstGeom>
        </p:spPr>
      </p:pic>
      <p:sp>
        <p:nvSpPr>
          <p:cNvPr id="40" name="Text 19"/>
          <p:cNvSpPr txBox="1"/>
          <p:nvPr/>
        </p:nvSpPr>
        <p:spPr>
          <a:xfrm>
            <a:off x="10255222" y="3810305"/>
            <a:ext cx="10104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掲載開始！</a:t>
            </a:r>
            <a:endParaRPr lang="en-US" sz="15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1" name="Shape 20"/>
          <p:cNvSpPr/>
          <p:nvPr/>
        </p:nvSpPr>
        <p:spPr>
          <a:xfrm>
            <a:off x="571500" y="4849978"/>
            <a:ext cx="11048695" cy="1352398"/>
          </a:xfrm>
          <a:prstGeom prst="roundRect">
            <a:avLst>
              <a:gd name="adj" fmla="val 1523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42" name="Image 19" descr="preencoded.png"/>
          <p:cNvPicPr>
            <a:picLocks noChangeAspect="1"/>
          </p:cNvPicPr>
          <p:nvPr/>
        </p:nvPicPr>
        <p:blipFill>
          <a:blip r:embed="rId21"/>
          <a:srcRect t="-67" b="-67"/>
          <a:stretch/>
        </p:blipFill>
        <p:spPr>
          <a:xfrm>
            <a:off x="886054" y="4707331"/>
            <a:ext cx="1695298" cy="267005"/>
          </a:xfrm>
          <a:prstGeom prst="rect">
            <a:avLst/>
          </a:prstGeom>
        </p:spPr>
      </p:pic>
      <p:sp>
        <p:nvSpPr>
          <p:cNvPr id="43" name="Text 21"/>
          <p:cNvSpPr/>
          <p:nvPr/>
        </p:nvSpPr>
        <p:spPr>
          <a:xfrm>
            <a:off x="1219810" y="4707331"/>
            <a:ext cx="169529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 err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準備して</a:t>
            </a:r>
            <a:r>
              <a:rPr lang="ja-JP" altLang="en-US" sz="1000" b="1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いただくもの</a:t>
            </a:r>
            <a:r>
              <a:rPr lang="en-US" sz="1000" b="1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 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44" name="Image 20" descr="preencoded.png"/>
          <p:cNvPicPr>
            <a:picLocks noChangeAspect="1"/>
          </p:cNvPicPr>
          <p:nvPr/>
        </p:nvPicPr>
        <p:blipFill>
          <a:blip r:embed="rId22"/>
          <a:srcRect l="-2512" r="-2512"/>
          <a:stretch/>
        </p:blipFill>
        <p:spPr>
          <a:xfrm>
            <a:off x="1037844" y="4781398"/>
            <a:ext cx="105156" cy="133502"/>
          </a:xfrm>
          <a:prstGeom prst="rect">
            <a:avLst/>
          </a:prstGeom>
        </p:spPr>
      </p:pic>
      <p:pic>
        <p:nvPicPr>
          <p:cNvPr id="45" name="Image 21" descr="preencoded.png"/>
          <p:cNvPicPr>
            <a:picLocks noChangeAspect="1"/>
          </p:cNvPicPr>
          <p:nvPr/>
        </p:nvPicPr>
        <p:blipFill>
          <a:blip r:embed="rId23"/>
          <a:srcRect t="-43" b="-43"/>
          <a:stretch/>
        </p:blipFill>
        <p:spPr>
          <a:xfrm>
            <a:off x="809244" y="5202936"/>
            <a:ext cx="133502" cy="152705"/>
          </a:xfrm>
          <a:prstGeom prst="rect">
            <a:avLst/>
          </a:prstGeom>
        </p:spPr>
      </p:pic>
      <p:sp>
        <p:nvSpPr>
          <p:cNvPr id="46" name="Text 22"/>
          <p:cNvSpPr txBox="1"/>
          <p:nvPr/>
        </p:nvSpPr>
        <p:spPr>
          <a:xfrm>
            <a:off x="1057046" y="5164531"/>
            <a:ext cx="210952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店舗基本情報</a:t>
            </a:r>
            <a:endParaRPr 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7" name="Text 23"/>
          <p:cNvSpPr txBox="1"/>
          <p:nvPr/>
        </p:nvSpPr>
        <p:spPr>
          <a:xfrm>
            <a:off x="1057046" y="5385206"/>
            <a:ext cx="210952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住所・電話番号・メールアドレスなど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48" name="Image 22" descr="preencoded.png"/>
          <p:cNvPicPr>
            <a:picLocks noChangeAspect="1"/>
          </p:cNvPicPr>
          <p:nvPr/>
        </p:nvPicPr>
        <p:blipFill>
          <a:blip r:embed="rId23"/>
          <a:srcRect t="-43" b="-43"/>
          <a:stretch/>
        </p:blipFill>
        <p:spPr>
          <a:xfrm>
            <a:off x="809244" y="5660136"/>
            <a:ext cx="133502" cy="152705"/>
          </a:xfrm>
          <a:prstGeom prst="rect">
            <a:avLst/>
          </a:prstGeom>
        </p:spPr>
      </p:pic>
      <p:sp>
        <p:nvSpPr>
          <p:cNvPr id="49" name="Text 24"/>
          <p:cNvSpPr txBox="1"/>
          <p:nvPr/>
        </p:nvSpPr>
        <p:spPr>
          <a:xfrm>
            <a:off x="1057046" y="5621731"/>
            <a:ext cx="29059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PRコメント</a:t>
            </a:r>
            <a:endParaRPr 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0" name="Text 25"/>
          <p:cNvSpPr txBox="1"/>
          <p:nvPr/>
        </p:nvSpPr>
        <p:spPr>
          <a:xfrm>
            <a:off x="1057046" y="5843321"/>
            <a:ext cx="3293669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100〜150文字目安（お店の特徴やアピールポイント）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1" name="Image 23" descr="preencoded.png"/>
          <p:cNvPicPr>
            <a:picLocks noChangeAspect="1"/>
          </p:cNvPicPr>
          <p:nvPr/>
        </p:nvPicPr>
        <p:blipFill>
          <a:blip r:embed="rId23"/>
          <a:srcRect t="-43" b="-43"/>
          <a:stretch/>
        </p:blipFill>
        <p:spPr>
          <a:xfrm>
            <a:off x="6248095" y="5202936"/>
            <a:ext cx="133502" cy="152705"/>
          </a:xfrm>
          <a:prstGeom prst="rect">
            <a:avLst/>
          </a:prstGeom>
        </p:spPr>
      </p:pic>
      <p:sp>
        <p:nvSpPr>
          <p:cNvPr id="52" name="Text 26"/>
          <p:cNvSpPr txBox="1"/>
          <p:nvPr/>
        </p:nvSpPr>
        <p:spPr>
          <a:xfrm>
            <a:off x="6495898" y="5164531"/>
            <a:ext cx="27532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店舗画像（最大3枚／任意）</a:t>
            </a:r>
            <a:endParaRPr 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3" name="Text 27"/>
          <p:cNvSpPr txBox="1"/>
          <p:nvPr/>
        </p:nvSpPr>
        <p:spPr>
          <a:xfrm>
            <a:off x="6495898" y="5385206"/>
            <a:ext cx="27532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料理・店内・外観の写真（JPEGまたはPNG形式）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4" name="Image 24" descr="preencoded.png"/>
          <p:cNvPicPr>
            <a:picLocks noChangeAspect="1"/>
          </p:cNvPicPr>
          <p:nvPr/>
        </p:nvPicPr>
        <p:blipFill>
          <a:blip r:embed="rId23"/>
          <a:srcRect t="-43" b="-43"/>
          <a:stretch/>
        </p:blipFill>
        <p:spPr>
          <a:xfrm>
            <a:off x="6248095" y="5660136"/>
            <a:ext cx="133502" cy="152705"/>
          </a:xfrm>
          <a:prstGeom prst="rect">
            <a:avLst/>
          </a:prstGeom>
        </p:spPr>
      </p:pic>
      <p:sp>
        <p:nvSpPr>
          <p:cNvPr id="55" name="Text 28"/>
          <p:cNvSpPr txBox="1"/>
          <p:nvPr/>
        </p:nvSpPr>
        <p:spPr>
          <a:xfrm>
            <a:off x="6495898" y="5621731"/>
            <a:ext cx="28675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クーポン案</a:t>
            </a:r>
            <a:endParaRPr 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6" name="Text 29"/>
          <p:cNvSpPr txBox="1"/>
          <p:nvPr/>
        </p:nvSpPr>
        <p:spPr>
          <a:xfrm>
            <a:off x="6495898" y="5842406"/>
            <a:ext cx="28675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名称・内容・利用条件（例：生ビール1杯無料など）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7" name="Image 25" descr="preencoded.png"/>
          <p:cNvPicPr>
            <a:picLocks noChangeAspect="1"/>
          </p:cNvPicPr>
          <p:nvPr/>
        </p:nvPicPr>
        <p:blipFill>
          <a:blip r:embed="rId24"/>
          <a:srcRect t="-80" b="-80"/>
          <a:stretch/>
        </p:blipFill>
        <p:spPr>
          <a:xfrm>
            <a:off x="2663696" y="2638044"/>
            <a:ext cx="142646" cy="228600"/>
          </a:xfrm>
          <a:prstGeom prst="rect">
            <a:avLst/>
          </a:prstGeom>
        </p:spPr>
      </p:pic>
      <p:pic>
        <p:nvPicPr>
          <p:cNvPr id="58" name="Image 26" descr="preencoded.png"/>
          <p:cNvPicPr>
            <a:picLocks noChangeAspect="1"/>
          </p:cNvPicPr>
          <p:nvPr/>
        </p:nvPicPr>
        <p:blipFill>
          <a:blip r:embed="rId24"/>
          <a:srcRect t="-80" b="-80"/>
          <a:stretch/>
        </p:blipFill>
        <p:spPr>
          <a:xfrm>
            <a:off x="4893816" y="2638044"/>
            <a:ext cx="142646" cy="228600"/>
          </a:xfrm>
          <a:prstGeom prst="rect">
            <a:avLst/>
          </a:prstGeom>
        </p:spPr>
      </p:pic>
      <p:pic>
        <p:nvPicPr>
          <p:cNvPr id="59" name="Image 27" descr="preencoded.png"/>
          <p:cNvPicPr>
            <a:picLocks noChangeAspect="1"/>
          </p:cNvPicPr>
          <p:nvPr/>
        </p:nvPicPr>
        <p:blipFill>
          <a:blip r:embed="rId24"/>
          <a:srcRect t="-80" b="-80"/>
          <a:stretch/>
        </p:blipFill>
        <p:spPr>
          <a:xfrm>
            <a:off x="7146395" y="2638044"/>
            <a:ext cx="142646" cy="228600"/>
          </a:xfrm>
          <a:prstGeom prst="rect">
            <a:avLst/>
          </a:prstGeom>
        </p:spPr>
      </p:pic>
      <p:pic>
        <p:nvPicPr>
          <p:cNvPr id="60" name="Image 28" descr="preencoded.png"/>
          <p:cNvPicPr>
            <a:picLocks noChangeAspect="1"/>
          </p:cNvPicPr>
          <p:nvPr/>
        </p:nvPicPr>
        <p:blipFill>
          <a:blip r:embed="rId24"/>
          <a:srcRect t="-80" b="-80"/>
          <a:stretch/>
        </p:blipFill>
        <p:spPr>
          <a:xfrm>
            <a:off x="9376515" y="2638044"/>
            <a:ext cx="142646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857500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-381305" y="-381305"/>
            <a:ext cx="2438705" cy="2438705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257300" y="4876495"/>
            <a:ext cx="1218895" cy="1218895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27583" y="1730096"/>
            <a:ext cx="11045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80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STEP</a:t>
            </a:r>
            <a:endParaRPr lang="en-US" sz="1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91617" y="1964639"/>
            <a:ext cx="180136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FFFFFF">
                    <a:alpha val="90000"/>
                  </a:srgb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01</a:t>
            </a:r>
            <a:endParaRPr lang="en-US" sz="6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62" r="-62"/>
          <a:stretch/>
        </p:blipFill>
        <p:spPr>
          <a:xfrm>
            <a:off x="591617" y="3290926"/>
            <a:ext cx="1676095" cy="40965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48817" y="3290926"/>
            <a:ext cx="1286561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B98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所要時間 3分 </a:t>
            </a:r>
            <a:endParaRPr 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760" r="-760"/>
          <a:stretch/>
        </p:blipFill>
        <p:spPr>
          <a:xfrm>
            <a:off x="820217" y="3417113"/>
            <a:ext cx="152705" cy="171907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rcRect l="-347" r="-347"/>
          <a:stretch/>
        </p:blipFill>
        <p:spPr>
          <a:xfrm>
            <a:off x="1104595" y="4157777"/>
            <a:ext cx="647395" cy="5715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09498" y="4881982"/>
            <a:ext cx="8385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掲載申込</a:t>
            </a:r>
            <a:endParaRPr lang="en-US" sz="1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2857500" y="0"/>
            <a:ext cx="93341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3429000" y="1219810"/>
            <a:ext cx="8191195" cy="1920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3429000" y="381305"/>
            <a:ext cx="84966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67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掲載店お申し込み</a:t>
            </a:r>
            <a:endParaRPr lang="en-US" sz="28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3429000" y="838505"/>
            <a:ext cx="8382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まずは基本情報を入力して、アカウントを作成しましょう。</a:t>
            </a:r>
            <a:endParaRPr 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3429000" y="1543507"/>
            <a:ext cx="3943807" cy="2533802"/>
          </a:xfrm>
          <a:prstGeom prst="roundRect">
            <a:avLst>
              <a:gd name="adj" fmla="val 325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3605784" y="1781251"/>
            <a:ext cx="3657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1</a:t>
            </a:r>
            <a:r>
              <a:rPr lang="en-US" sz="1400" b="1" dirty="0">
                <a:solidFill>
                  <a:srgbClr val="04785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 申込ページへアクセス </a:t>
            </a:r>
            <a:endParaRPr 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3760049" y="2162556"/>
            <a:ext cx="3657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以下のURLからアクセスしてください。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3666744" y="2428646"/>
            <a:ext cx="3467405" cy="437998"/>
          </a:xfrm>
          <a:prstGeom prst="roundRect">
            <a:avLst>
              <a:gd name="adj" fmla="val 3630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1" name="Text 16"/>
          <p:cNvSpPr txBox="1"/>
          <p:nvPr/>
        </p:nvSpPr>
        <p:spPr>
          <a:xfrm>
            <a:off x="3872127" y="2441636"/>
            <a:ext cx="30678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563EB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ui-monospace" pitchFamily="34" charset="-120"/>
              </a:rPr>
              <a:t>https://www.tamanomi.com/lp/merchant/apply</a:t>
            </a:r>
            <a:endParaRPr lang="en-US" sz="9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rcRect t="-5" b="-5"/>
          <a:stretch/>
        </p:blipFill>
        <p:spPr>
          <a:xfrm>
            <a:off x="3666744" y="3019349"/>
            <a:ext cx="3467405" cy="81930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3834282" y="3181198"/>
            <a:ext cx="129661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スマートフォンの方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7" name="Text 19"/>
          <p:cNvSpPr txBox="1"/>
          <p:nvPr/>
        </p:nvSpPr>
        <p:spPr>
          <a:xfrm>
            <a:off x="3834281" y="3372307"/>
            <a:ext cx="217017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QRコードを読み取ってアクセスできます</a:t>
            </a:r>
            <a:endParaRPr lang="en-US" sz="9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3429000" y="4304995"/>
            <a:ext cx="3943807" cy="1923085"/>
          </a:xfrm>
          <a:prstGeom prst="roundRect">
            <a:avLst>
              <a:gd name="adj" fmla="val 6822"/>
            </a:avLst>
          </a:prstGeom>
          <a:solidFill>
            <a:srgbClr val="FEFCE8"/>
          </a:solidFill>
          <a:ln w="12700">
            <a:solidFill>
              <a:srgbClr val="FEF08A"/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7"/>
          <a:srcRect t="-20192" b="-20192"/>
          <a:stretch/>
        </p:blipFill>
        <p:spPr>
          <a:xfrm>
            <a:off x="3578454" y="4426814"/>
            <a:ext cx="190195" cy="267005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3806749" y="4464609"/>
            <a:ext cx="3429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ご注意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1" name="Text 22"/>
          <p:cNvSpPr txBox="1"/>
          <p:nvPr/>
        </p:nvSpPr>
        <p:spPr>
          <a:xfrm>
            <a:off x="3536492" y="4733848"/>
            <a:ext cx="3762757" cy="1595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 </a:t>
            </a:r>
            <a:r>
              <a:rPr lang="ja-JP" altLang="en-US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・</a:t>
            </a:r>
            <a:r>
              <a:rPr lang="en-US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申込完了後、入力したメールアドレス宛に</a:t>
            </a:r>
            <a:r>
              <a:rPr lang="en-US" sz="1000" b="1" dirty="0">
                <a:solidFill>
                  <a:srgbClr val="059669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「初回設定メール」</a:t>
            </a:r>
            <a:r>
              <a:rPr lang="en-US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が届きます。 メールアドレスにお間違いがないか、必ずご確認ください。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500" dirty="0">
              <a:solidFill>
                <a:srgbClr val="4B5563"/>
              </a:solidFill>
              <a:latin typeface="BIZ UDPゴシック" panose="020B0400000000000000" pitchFamily="50" charset="-128"/>
              <a:ea typeface="BIZ UDPゴシック" panose="020B0400000000000000" pitchFamily="50" charset="-128"/>
              <a:cs typeface="Zen Maru Gothic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ja-JP" altLang="en-US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・お申込み後、ご登録のメールアドレスにパスワード設定用のメールを送信致します。メール内のリンクからパスワードを設定し、管理画面にログインしてください。</a:t>
            </a:r>
            <a:endParaRPr lang="en-US" sz="1000" dirty="0">
              <a:solidFill>
                <a:srgbClr val="4B5563"/>
              </a:solidFill>
              <a:latin typeface="BIZ UDPゴシック" panose="020B0400000000000000" pitchFamily="50" charset="-128"/>
              <a:ea typeface="BIZ UDPゴシック" panose="020B0400000000000000" pitchFamily="50" charset="-128"/>
              <a:cs typeface="Zen Maru Gothic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 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8"/>
          <a:srcRect l="-4" r="-4"/>
          <a:stretch/>
        </p:blipFill>
        <p:spPr>
          <a:xfrm>
            <a:off x="7677302" y="1543507"/>
            <a:ext cx="3943807" cy="4684573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7925105" y="2041855"/>
            <a:ext cx="3448202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4" name="Text 24"/>
          <p:cNvSpPr txBox="1"/>
          <p:nvPr/>
        </p:nvSpPr>
        <p:spPr>
          <a:xfrm>
            <a:off x="8172907" y="1698955"/>
            <a:ext cx="3391510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 入力する内容</a:t>
            </a:r>
            <a:r>
              <a:rPr lang="ja-JP" altLang="en-US" sz="14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（必須）</a:t>
            </a:r>
            <a:r>
              <a:rPr lang="en-US" sz="14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 </a:t>
            </a:r>
            <a:endParaRPr 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925105" y="1746504"/>
            <a:ext cx="171907" cy="171907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7925105" y="2132584"/>
            <a:ext cx="3376557" cy="4034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ja-JP" altLang="en-US" sz="1000" b="1" dirty="0">
                <a:solidFill>
                  <a:srgbClr val="646976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＜基本情報＞</a:t>
            </a:r>
            <a:endParaRPr lang="en-US" altLang="ja-JP" sz="1000" b="1" dirty="0">
              <a:solidFill>
                <a:srgbClr val="646976"/>
              </a:solidFill>
              <a:latin typeface="BIZ UDPゴシック" panose="020B0400000000000000" pitchFamily="50" charset="-128"/>
              <a:ea typeface="BIZ UDPゴシック" panose="020B0400000000000000" pitchFamily="50" charset="-128"/>
              <a:cs typeface="Zen Maru Gothic" pitchFamily="34" charset="-120"/>
            </a:endParaRPr>
          </a:p>
          <a:p>
            <a:pPr>
              <a:lnSpc>
                <a:spcPct val="150000"/>
              </a:lnSpc>
            </a:pPr>
            <a:r>
              <a:rPr lang="ja-JP" altLang="en-US" sz="1000" b="1" dirty="0">
                <a:solidFill>
                  <a:srgbClr val="646976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・事業者名</a:t>
            </a:r>
            <a:endParaRPr lang="en-US" altLang="ja-JP" sz="1000" b="1" dirty="0">
              <a:solidFill>
                <a:srgbClr val="646976"/>
              </a:solidFill>
              <a:latin typeface="BIZ UDPゴシック" panose="020B0400000000000000" pitchFamily="50" charset="-128"/>
              <a:ea typeface="BIZ UDPゴシック" panose="020B0400000000000000" pitchFamily="50" charset="-128"/>
              <a:cs typeface="Zen Maru Gothic" pitchFamily="34" charset="-120"/>
            </a:endParaRPr>
          </a:p>
          <a:p>
            <a:pPr>
              <a:lnSpc>
                <a:spcPct val="150000"/>
              </a:lnSpc>
            </a:pPr>
            <a:r>
              <a:rPr lang="ja-JP" altLang="en-US" sz="1000" b="1" dirty="0">
                <a:solidFill>
                  <a:srgbClr val="646976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・事業者名（カナ）</a:t>
            </a:r>
            <a:endParaRPr lang="en-US" altLang="ja-JP" sz="1000" b="1" dirty="0">
              <a:solidFill>
                <a:srgbClr val="646976"/>
              </a:solidFill>
              <a:latin typeface="BIZ UDPゴシック" panose="020B0400000000000000" pitchFamily="50" charset="-128"/>
              <a:ea typeface="BIZ UDPゴシック" panose="020B0400000000000000" pitchFamily="50" charset="-128"/>
              <a:cs typeface="Zen Maru Gothic" pitchFamily="34" charset="-120"/>
            </a:endParaRPr>
          </a:p>
          <a:p>
            <a:pPr>
              <a:lnSpc>
                <a:spcPct val="150000"/>
              </a:lnSpc>
            </a:pPr>
            <a:r>
              <a:rPr lang="ja-JP" altLang="en-US" sz="1000" b="1" dirty="0">
                <a:solidFill>
                  <a:srgbClr val="646976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・</a:t>
            </a:r>
            <a:r>
              <a:rPr lang="en-US" altLang="ja-JP" sz="1000" b="1" dirty="0">
                <a:solidFill>
                  <a:srgbClr val="646976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代表者名</a:t>
            </a:r>
            <a:r>
              <a:rPr lang="ja-JP" altLang="en-US" sz="1000" b="1" dirty="0">
                <a:solidFill>
                  <a:srgbClr val="646976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（姓）</a:t>
            </a:r>
            <a:endParaRPr lang="en-US" altLang="ja-JP" sz="1000" b="1" dirty="0">
              <a:solidFill>
                <a:srgbClr val="646976"/>
              </a:solidFill>
              <a:latin typeface="BIZ UDPゴシック" panose="020B0400000000000000" pitchFamily="50" charset="-128"/>
              <a:ea typeface="BIZ UDPゴシック" panose="020B0400000000000000" pitchFamily="50" charset="-128"/>
              <a:cs typeface="Zen Maru Gothic" pitchFamily="34" charset="-120"/>
            </a:endParaRPr>
          </a:p>
          <a:p>
            <a:pPr>
              <a:lnSpc>
                <a:spcPct val="150000"/>
              </a:lnSpc>
            </a:pPr>
            <a:r>
              <a:rPr lang="ja-JP" altLang="en-US" sz="1000" b="1" dirty="0">
                <a:solidFill>
                  <a:srgbClr val="646976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・代表者名（名）</a:t>
            </a:r>
            <a:endParaRPr lang="en-US" altLang="ja-JP" sz="1000" dirty="0">
              <a:solidFill>
                <a:srgbClr val="646976"/>
              </a:solidFill>
              <a:latin typeface="BIZ UDPゴシック" panose="020B0400000000000000" pitchFamily="50" charset="-128"/>
              <a:ea typeface="BIZ UDPゴシック" panose="020B0400000000000000" pitchFamily="50" charset="-128"/>
              <a:cs typeface="Zen Maru Gothic" pitchFamily="34" charset="-120"/>
            </a:endParaRPr>
          </a:p>
          <a:p>
            <a:pPr>
              <a:lnSpc>
                <a:spcPct val="150000"/>
              </a:lnSpc>
            </a:pPr>
            <a:r>
              <a:rPr lang="ja-JP" altLang="en-US" sz="1000" b="1" dirty="0">
                <a:solidFill>
                  <a:srgbClr val="646976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・代表者名（姓／カナ）　</a:t>
            </a:r>
            <a:endParaRPr lang="en-US" altLang="ja-JP" sz="1000" b="1" dirty="0">
              <a:solidFill>
                <a:srgbClr val="646976"/>
              </a:solidFill>
              <a:latin typeface="BIZ UDPゴシック" panose="020B0400000000000000" pitchFamily="50" charset="-128"/>
              <a:ea typeface="BIZ UDPゴシック" panose="020B0400000000000000" pitchFamily="50" charset="-128"/>
              <a:cs typeface="Zen Maru Gothic" pitchFamily="34" charset="-120"/>
            </a:endParaRPr>
          </a:p>
          <a:p>
            <a:pPr>
              <a:lnSpc>
                <a:spcPct val="150000"/>
              </a:lnSpc>
            </a:pPr>
            <a:r>
              <a:rPr lang="ja-JP" altLang="en-US" sz="1000" b="1" dirty="0">
                <a:solidFill>
                  <a:srgbClr val="646976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・代表者名（名／カナ）</a:t>
            </a:r>
            <a:endParaRPr lang="en-US" altLang="ja-JP" sz="1000" b="1" dirty="0">
              <a:solidFill>
                <a:srgbClr val="646976"/>
              </a:solidFill>
              <a:latin typeface="BIZ UDPゴシック" panose="020B0400000000000000" pitchFamily="50" charset="-128"/>
              <a:ea typeface="BIZ UDPゴシック" panose="020B0400000000000000" pitchFamily="50" charset="-128"/>
              <a:cs typeface="Zen Maru Gothic" pitchFamily="34" charset="-120"/>
            </a:endParaRPr>
          </a:p>
          <a:p>
            <a:pPr>
              <a:lnSpc>
                <a:spcPct val="150000"/>
              </a:lnSpc>
            </a:pPr>
            <a:r>
              <a:rPr lang="ja-JP" altLang="en-US" sz="1000" b="1" dirty="0">
                <a:solidFill>
                  <a:srgbClr val="646976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・代表者電話番号</a:t>
            </a:r>
            <a:endParaRPr lang="en-US" altLang="ja-JP" sz="1000" b="1" dirty="0">
              <a:solidFill>
                <a:srgbClr val="646976"/>
              </a:solidFill>
              <a:latin typeface="BIZ UDPゴシック" panose="020B0400000000000000" pitchFamily="50" charset="-128"/>
              <a:ea typeface="BIZ UDPゴシック" panose="020B0400000000000000" pitchFamily="50" charset="-128"/>
              <a:cs typeface="Zen Maru Gothic" pitchFamily="34" charset="-120"/>
            </a:endParaRPr>
          </a:p>
          <a:p>
            <a:pPr>
              <a:lnSpc>
                <a:spcPct val="150000"/>
              </a:lnSpc>
            </a:pPr>
            <a:r>
              <a:rPr lang="ja-JP" altLang="en-US" sz="1000" b="1" dirty="0">
                <a:solidFill>
                  <a:srgbClr val="646976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・</a:t>
            </a:r>
            <a:r>
              <a:rPr lang="en-US" altLang="ja-JP" sz="1000" b="1" dirty="0">
                <a:solidFill>
                  <a:srgbClr val="646976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メールアドレス </a:t>
            </a:r>
            <a:r>
              <a:rPr lang="en-US" altLang="ja-JP" sz="800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重要</a:t>
            </a:r>
            <a:r>
              <a:rPr lang="ja-JP" altLang="en-US" sz="800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　</a:t>
            </a:r>
            <a:r>
              <a:rPr lang="en-US" altLang="ja-JP" sz="1000" dirty="0">
                <a:solidFill>
                  <a:srgbClr val="646976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※PC・スマホどちらでも可</a:t>
            </a:r>
            <a:endParaRPr lang="en-US" altLang="ja-JP" sz="1000" dirty="0">
              <a:solidFill>
                <a:srgbClr val="646976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endParaRPr lang="en-US" altLang="ja-JP" sz="1000" b="1" dirty="0">
              <a:solidFill>
                <a:srgbClr val="646976"/>
              </a:solidFill>
              <a:latin typeface="BIZ UDPゴシック" panose="020B0400000000000000" pitchFamily="50" charset="-128"/>
              <a:ea typeface="BIZ UDPゴシック" panose="020B0400000000000000" pitchFamily="50" charset="-128"/>
              <a:cs typeface="Zen Maru Gothic" pitchFamily="34" charset="-120"/>
            </a:endParaRPr>
          </a:p>
          <a:p>
            <a:pPr>
              <a:lnSpc>
                <a:spcPct val="150000"/>
              </a:lnSpc>
            </a:pPr>
            <a:r>
              <a:rPr lang="ja-JP" altLang="en-US" sz="1000" b="1" dirty="0">
                <a:solidFill>
                  <a:srgbClr val="646976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＜住所情報＞</a:t>
            </a:r>
            <a:endParaRPr lang="en-US" altLang="ja-JP" sz="1000" b="1" dirty="0">
              <a:solidFill>
                <a:srgbClr val="646976"/>
              </a:solidFill>
              <a:latin typeface="BIZ UDPゴシック" panose="020B0400000000000000" pitchFamily="50" charset="-128"/>
              <a:ea typeface="BIZ UDPゴシック" panose="020B0400000000000000" pitchFamily="50" charset="-128"/>
              <a:cs typeface="Zen Maru Gothic" pitchFamily="34" charset="-120"/>
            </a:endParaRPr>
          </a:p>
          <a:p>
            <a:pPr>
              <a:lnSpc>
                <a:spcPct val="150000"/>
              </a:lnSpc>
            </a:pPr>
            <a:r>
              <a:rPr lang="ja-JP" altLang="en-US" sz="1000" b="1" dirty="0">
                <a:solidFill>
                  <a:srgbClr val="646976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・郵便番号　</a:t>
            </a:r>
            <a:r>
              <a:rPr lang="en-US" altLang="ja-JP" sz="1000" dirty="0">
                <a:solidFill>
                  <a:srgbClr val="646976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 ※郵便番号から</a:t>
            </a:r>
            <a:r>
              <a:rPr lang="ja-JP" altLang="en-US" sz="1000" dirty="0">
                <a:solidFill>
                  <a:srgbClr val="646976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住所検索できます</a:t>
            </a:r>
            <a:endParaRPr lang="en-US" altLang="ja-JP" sz="1000" b="1" dirty="0">
              <a:solidFill>
                <a:srgbClr val="646976"/>
              </a:solidFill>
              <a:latin typeface="BIZ UDPゴシック" panose="020B0400000000000000" pitchFamily="50" charset="-128"/>
              <a:ea typeface="BIZ UDPゴシック" panose="020B0400000000000000" pitchFamily="50" charset="-128"/>
              <a:cs typeface="Zen Maru Gothic" pitchFamily="34" charset="-120"/>
            </a:endParaRPr>
          </a:p>
          <a:p>
            <a:pPr>
              <a:lnSpc>
                <a:spcPct val="150000"/>
              </a:lnSpc>
            </a:pPr>
            <a:r>
              <a:rPr lang="ja-JP" altLang="en-US" sz="1000" b="1" dirty="0">
                <a:solidFill>
                  <a:srgbClr val="646976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・都道府県</a:t>
            </a:r>
            <a:endParaRPr lang="en-US" altLang="ja-JP" sz="1000" b="1" dirty="0">
              <a:solidFill>
                <a:srgbClr val="646976"/>
              </a:solidFill>
              <a:latin typeface="BIZ UDPゴシック" panose="020B0400000000000000" pitchFamily="50" charset="-128"/>
              <a:ea typeface="BIZ UDPゴシック" panose="020B0400000000000000" pitchFamily="50" charset="-128"/>
              <a:cs typeface="Zen Maru Gothic" pitchFamily="34" charset="-120"/>
            </a:endParaRPr>
          </a:p>
          <a:p>
            <a:pPr>
              <a:lnSpc>
                <a:spcPct val="150000"/>
              </a:lnSpc>
            </a:pPr>
            <a:r>
              <a:rPr lang="ja-JP" altLang="en-US" sz="1000" b="1" dirty="0">
                <a:solidFill>
                  <a:srgbClr val="646976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・市区町村</a:t>
            </a:r>
            <a:endParaRPr lang="en-US" altLang="ja-JP" sz="1000" b="1" dirty="0">
              <a:solidFill>
                <a:srgbClr val="646976"/>
              </a:solidFill>
              <a:latin typeface="BIZ UDPゴシック" panose="020B0400000000000000" pitchFamily="50" charset="-128"/>
              <a:ea typeface="BIZ UDPゴシック" panose="020B0400000000000000" pitchFamily="50" charset="-128"/>
              <a:cs typeface="Zen Maru Gothic" pitchFamily="34" charset="-120"/>
            </a:endParaRPr>
          </a:p>
          <a:p>
            <a:pPr>
              <a:lnSpc>
                <a:spcPct val="150000"/>
              </a:lnSpc>
            </a:pPr>
            <a:r>
              <a:rPr lang="ja-JP" altLang="en-US" sz="1000" b="1" dirty="0">
                <a:solidFill>
                  <a:srgbClr val="646976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・町名 番地</a:t>
            </a:r>
            <a:endParaRPr lang="en-US" altLang="ja-JP" sz="1000" b="1" dirty="0">
              <a:solidFill>
                <a:srgbClr val="646976"/>
              </a:solidFill>
              <a:latin typeface="BIZ UDPゴシック" panose="020B0400000000000000" pitchFamily="50" charset="-128"/>
              <a:ea typeface="BIZ UDPゴシック" panose="020B0400000000000000" pitchFamily="50" charset="-128"/>
              <a:cs typeface="Zen Maru Gothic" pitchFamily="34" charset="-120"/>
            </a:endParaRPr>
          </a:p>
          <a:p>
            <a:pPr>
              <a:lnSpc>
                <a:spcPct val="150000"/>
              </a:lnSpc>
            </a:pPr>
            <a:r>
              <a:rPr lang="ja-JP" altLang="en-US" sz="1000" b="1" dirty="0">
                <a:solidFill>
                  <a:srgbClr val="646976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・建物名 部屋番号　</a:t>
            </a:r>
            <a:r>
              <a:rPr lang="en-US" altLang="ja-JP" sz="1000" dirty="0">
                <a:solidFill>
                  <a:srgbClr val="646976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 ※</a:t>
            </a:r>
            <a:r>
              <a:rPr lang="ja-JP" altLang="en-US" sz="1000" dirty="0">
                <a:solidFill>
                  <a:srgbClr val="646976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任意</a:t>
            </a:r>
            <a:endParaRPr lang="en-US" altLang="ja-JP" sz="1000" b="1" dirty="0">
              <a:solidFill>
                <a:srgbClr val="646976"/>
              </a:solidFill>
              <a:latin typeface="BIZ UDPゴシック" panose="020B0400000000000000" pitchFamily="50" charset="-128"/>
              <a:ea typeface="BIZ UDPゴシック" panose="020B0400000000000000" pitchFamily="50" charset="-128"/>
              <a:cs typeface="Zen Maru Gothic" pitchFamily="34" charset="-120"/>
            </a:endParaRPr>
          </a:p>
          <a:p>
            <a:pPr>
              <a:lnSpc>
                <a:spcPct val="150000"/>
              </a:lnSpc>
            </a:pPr>
            <a:endParaRPr lang="en-US" altLang="ja-JP" sz="1000" dirty="0">
              <a:solidFill>
                <a:srgbClr val="646976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endParaRPr lang="en-US" altLang="ja-JP" sz="1000" dirty="0">
              <a:solidFill>
                <a:srgbClr val="646976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endParaRPr lang="en-US" altLang="ja-JP" sz="1000" dirty="0">
              <a:solidFill>
                <a:srgbClr val="646976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endParaRPr lang="en-US" altLang="ja-JP" sz="1000" dirty="0">
              <a:solidFill>
                <a:srgbClr val="646976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4" name="Text 30"/>
          <p:cNvSpPr txBox="1"/>
          <p:nvPr/>
        </p:nvSpPr>
        <p:spPr>
          <a:xfrm>
            <a:off x="8210397" y="3317811"/>
            <a:ext cx="3029997" cy="144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endParaRPr lang="en-US" sz="9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7A6408E-8E3B-AC60-FC17-82E6C21F0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0555" y="3088843"/>
            <a:ext cx="729384" cy="729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6D86662E-72CF-89FA-529F-51261BA44DA8}"/>
              </a:ext>
            </a:extLst>
          </p:cNvPr>
          <p:cNvSpPr txBox="1"/>
          <p:nvPr/>
        </p:nvSpPr>
        <p:spPr>
          <a:xfrm>
            <a:off x="7837323" y="5798592"/>
            <a:ext cx="3667333" cy="535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1050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以上の内容を入力し、申し込むボタンを押してください。</a:t>
            </a:r>
            <a:endParaRPr lang="en-US" altLang="ja-JP" sz="1050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  <a:cs typeface="Zen Maru Gothic" pitchFamily="34" charset="-120"/>
            </a:endParaRPr>
          </a:p>
          <a:p>
            <a:pPr>
              <a:lnSpc>
                <a:spcPct val="150000"/>
              </a:lnSpc>
            </a:pPr>
            <a:endParaRPr lang="en-US" altLang="ja-JP" sz="1050" dirty="0">
              <a:solidFill>
                <a:srgbClr val="646976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857500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-381305" y="-381305"/>
            <a:ext cx="2438705" cy="2438705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257300" y="4876495"/>
            <a:ext cx="1218895" cy="1218895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59213" y="1709928"/>
            <a:ext cx="7342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80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STEP</a:t>
            </a:r>
            <a:endParaRPr lang="en-US" sz="1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98018" y="1957730"/>
            <a:ext cx="150510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FFFFFF">
                    <a:alpha val="90000"/>
                  </a:srgb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02</a:t>
            </a:r>
            <a:endParaRPr lang="en-US" sz="6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98018" y="3290926"/>
            <a:ext cx="1666951" cy="409651"/>
          </a:xfrm>
          <a:prstGeom prst="roundRect">
            <a:avLst>
              <a:gd name="adj" fmla="val 22321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055218" y="3366821"/>
            <a:ext cx="107807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B98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所要時間 1分</a:t>
            </a:r>
            <a:endParaRPr lang="en-US" sz="13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760" r="-760"/>
          <a:stretch/>
        </p:blipFill>
        <p:spPr>
          <a:xfrm>
            <a:off x="826618" y="3417113"/>
            <a:ext cx="152705" cy="171907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rcRect t="-16" b="-16"/>
          <a:stretch/>
        </p:blipFill>
        <p:spPr>
          <a:xfrm>
            <a:off x="1071677" y="4157777"/>
            <a:ext cx="714146" cy="5715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8660" y="4881982"/>
            <a:ext cx="144018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パスワード設定</a:t>
            </a:r>
            <a:endParaRPr lang="en-US" sz="15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2857500" y="0"/>
            <a:ext cx="93341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3429000" y="1219810"/>
            <a:ext cx="8191195" cy="1920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Text 11"/>
          <p:cNvSpPr txBox="1"/>
          <p:nvPr/>
        </p:nvSpPr>
        <p:spPr>
          <a:xfrm>
            <a:off x="3429000" y="381305"/>
            <a:ext cx="84966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パスワード設定</a:t>
            </a:r>
            <a:endParaRPr lang="en-US" sz="27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3429000" y="838505"/>
            <a:ext cx="8382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届いたメールからパスワードを設定し、アカウントを有効化します。</a:t>
            </a:r>
            <a:endParaRPr 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3429000" y="1543507"/>
            <a:ext cx="3943807" cy="4934102"/>
          </a:xfrm>
          <a:prstGeom prst="roundRect">
            <a:avLst>
              <a:gd name="adj" fmla="val 134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8" name="Text 14"/>
          <p:cNvSpPr txBox="1"/>
          <p:nvPr/>
        </p:nvSpPr>
        <p:spPr>
          <a:xfrm>
            <a:off x="3665952" y="1677076"/>
            <a:ext cx="3657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4785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メールを確認する </a:t>
            </a:r>
            <a:endParaRPr lang="en-US" sz="13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9" name="Text 15"/>
          <p:cNvSpPr txBox="1"/>
          <p:nvPr/>
        </p:nvSpPr>
        <p:spPr>
          <a:xfrm>
            <a:off x="3666743" y="1875952"/>
            <a:ext cx="37060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STEP1で入力したアドレス宛に以下の件名のメールが届きます。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 t="-6" b="-6"/>
          <a:stretch/>
        </p:blipFill>
        <p:spPr>
          <a:xfrm>
            <a:off x="3666744" y="2336832"/>
            <a:ext cx="3467405" cy="90982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010558" y="2479479"/>
            <a:ext cx="31720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メール件名</a:t>
            </a:r>
            <a:endParaRPr lang="en-US" sz="9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857854" y="2503253"/>
            <a:ext cx="114300" cy="1143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3857854" y="2647438"/>
            <a:ext cx="32104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【たまのみ】事業者アカウント発行のお知らせ／初回設定のご案内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7" name="Text 20"/>
          <p:cNvSpPr txBox="1"/>
          <p:nvPr/>
        </p:nvSpPr>
        <p:spPr>
          <a:xfrm>
            <a:off x="5519957" y="5952432"/>
            <a:ext cx="161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ja-JP" sz="1200" b="1" dirty="0">
                <a:solidFill>
                  <a:srgbClr val="059669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【</a:t>
            </a:r>
            <a:r>
              <a:rPr lang="ja-JP" altLang="en-US" sz="1200" b="1" dirty="0">
                <a:solidFill>
                  <a:srgbClr val="059669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パスワードを</a:t>
            </a:r>
            <a:r>
              <a:rPr lang="en-US" sz="1200" b="1" dirty="0" err="1">
                <a:solidFill>
                  <a:srgbClr val="059669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設定</a:t>
            </a:r>
            <a:r>
              <a:rPr lang="en-US" altLang="ja-JP" sz="1200" b="1" dirty="0">
                <a:solidFill>
                  <a:srgbClr val="059669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】</a:t>
            </a:r>
            <a:endParaRPr 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rcRect t="-1" b="-1"/>
          <a:stretch/>
        </p:blipFill>
        <p:spPr>
          <a:xfrm>
            <a:off x="7723602" y="1543507"/>
            <a:ext cx="3943807" cy="1895100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7933000" y="2095805"/>
            <a:ext cx="3524098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2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0" name="Text 22"/>
          <p:cNvSpPr txBox="1"/>
          <p:nvPr/>
        </p:nvSpPr>
        <p:spPr>
          <a:xfrm>
            <a:off x="8180802" y="1752905"/>
            <a:ext cx="3467405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 メールが届かない場合 </a:t>
            </a:r>
            <a:endParaRPr lang="en-US" sz="13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933000" y="1800454"/>
            <a:ext cx="171907" cy="171907"/>
          </a:xfrm>
          <a:prstGeom prst="rect">
            <a:avLst/>
          </a:prstGeom>
        </p:spPr>
      </p:pic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9"/>
          <a:srcRect t="-27660" b="-27660"/>
          <a:stretch/>
        </p:blipFill>
        <p:spPr>
          <a:xfrm>
            <a:off x="7933000" y="2222929"/>
            <a:ext cx="171907" cy="267005"/>
          </a:xfrm>
          <a:prstGeom prst="rect">
            <a:avLst/>
          </a:prstGeom>
        </p:spPr>
      </p:pic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10"/>
          <a:srcRect t="-27660" b="-27660"/>
          <a:stretch/>
        </p:blipFill>
        <p:spPr>
          <a:xfrm>
            <a:off x="7933000" y="2819028"/>
            <a:ext cx="171907" cy="267005"/>
          </a:xfrm>
          <a:prstGeom prst="rect">
            <a:avLst/>
          </a:prstGeom>
        </p:spPr>
      </p:pic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8256C4F8-C7B6-25EE-5E3E-987E11BB175C}"/>
              </a:ext>
            </a:extLst>
          </p:cNvPr>
          <p:cNvGrpSpPr/>
          <p:nvPr/>
        </p:nvGrpSpPr>
        <p:grpSpPr>
          <a:xfrm>
            <a:off x="8219207" y="2219248"/>
            <a:ext cx="2714854" cy="1071677"/>
            <a:chOff x="8219207" y="2219249"/>
            <a:chExt cx="2714854" cy="800100"/>
          </a:xfrm>
        </p:grpSpPr>
        <p:sp>
          <p:nvSpPr>
            <p:cNvPr id="33" name="Text 23"/>
            <p:cNvSpPr txBox="1"/>
            <p:nvPr/>
          </p:nvSpPr>
          <p:spPr>
            <a:xfrm>
              <a:off x="8219207" y="2219249"/>
              <a:ext cx="2714854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37415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Zen Maru Gothic" pitchFamily="34" charset="-120"/>
                </a:rPr>
                <a:t>迷惑メールフォルダを確認</a:t>
              </a:r>
              <a:endParaRPr lang="en-US" sz="105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34" name="Text 24"/>
            <p:cNvSpPr txBox="1"/>
            <p:nvPr/>
          </p:nvSpPr>
          <p:spPr>
            <a:xfrm>
              <a:off x="8219207" y="2409444"/>
              <a:ext cx="2714854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CA3AF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Zen Maru Gothic" pitchFamily="34" charset="-120"/>
                </a:rPr>
                <a:t>自動的に振り分けられている可能性があります。</a:t>
              </a:r>
              <a:endParaRPr 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36" name="Text 25"/>
            <p:cNvSpPr txBox="1"/>
            <p:nvPr/>
          </p:nvSpPr>
          <p:spPr>
            <a:xfrm>
              <a:off x="8219207" y="2676449"/>
              <a:ext cx="2232965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37415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Zen Maru Gothic" pitchFamily="34" charset="-120"/>
                </a:rPr>
                <a:t>数分待ってみる</a:t>
              </a:r>
              <a:endParaRPr lang="en-US" sz="105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37" name="Text 26"/>
            <p:cNvSpPr txBox="1"/>
            <p:nvPr/>
          </p:nvSpPr>
          <p:spPr>
            <a:xfrm>
              <a:off x="8219207" y="2866644"/>
              <a:ext cx="2232965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CA3AF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Zen Maru Gothic" pitchFamily="34" charset="-120"/>
                </a:rPr>
                <a:t>通信状況により遅れる場合があります。</a:t>
              </a:r>
              <a:endParaRPr 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  <p:sp>
        <p:nvSpPr>
          <p:cNvPr id="38" name="Shape 27"/>
          <p:cNvSpPr/>
          <p:nvPr/>
        </p:nvSpPr>
        <p:spPr>
          <a:xfrm>
            <a:off x="7723602" y="3639775"/>
            <a:ext cx="3943807" cy="1589679"/>
          </a:xfrm>
          <a:prstGeom prst="roundRect">
            <a:avLst>
              <a:gd name="adj" fmla="val 12094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9" name="Text 28"/>
          <p:cNvSpPr txBox="1"/>
          <p:nvPr/>
        </p:nvSpPr>
        <p:spPr>
          <a:xfrm>
            <a:off x="8133254" y="3839114"/>
            <a:ext cx="35250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91C1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 有効期限に注意 </a:t>
            </a:r>
            <a:endParaRPr lang="en-US" sz="13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1"/>
          <a:srcRect l="-1773" r="-1773"/>
          <a:stretch/>
        </p:blipFill>
        <p:spPr>
          <a:xfrm>
            <a:off x="7923856" y="3886663"/>
            <a:ext cx="133502" cy="171907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7907486" y="4152952"/>
            <a:ext cx="3620110" cy="1142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 メール内のリンクには有効期限があります。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 メール受信後、</a:t>
            </a:r>
            <a:r>
              <a:rPr lang="en-US" altLang="ja-JP" sz="1000" b="1" dirty="0">
                <a:solidFill>
                  <a:srgbClr val="DC2626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10</a:t>
            </a:r>
            <a:r>
              <a:rPr lang="ja-JP" altLang="en-US" sz="1000" b="1" dirty="0">
                <a:solidFill>
                  <a:srgbClr val="DC2626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日</a:t>
            </a:r>
            <a:r>
              <a:rPr lang="en-US" sz="1000" b="1" dirty="0">
                <a:solidFill>
                  <a:srgbClr val="DC2626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以内</a:t>
            </a:r>
            <a:r>
              <a:rPr lang="ja-JP" altLang="en-US" sz="1000" b="1" dirty="0">
                <a:solidFill>
                  <a:srgbClr val="646976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に</a:t>
            </a:r>
            <a:r>
              <a:rPr lang="en-US" sz="1000" dirty="0">
                <a:solidFill>
                  <a:srgbClr val="37415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設定を行ってください。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ja-JP" altLang="en-US" sz="1000" dirty="0">
                <a:solidFill>
                  <a:srgbClr val="37415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有効期限が過ぎた場合は、恐れ入りますが再発行のご依頼を事務局までお願いいたします。 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1000" dirty="0">
              <a:solidFill>
                <a:srgbClr val="374151"/>
              </a:solidFill>
              <a:latin typeface="BIZ UDPゴシック" panose="020B0400000000000000" pitchFamily="50" charset="-128"/>
              <a:ea typeface="BIZ UDPゴシック" panose="020B0400000000000000" pitchFamily="50" charset="-128"/>
              <a:cs typeface="Zen Maru Gothic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000" dirty="0">
              <a:solidFill>
                <a:srgbClr val="374151"/>
              </a:solidFill>
              <a:latin typeface="BIZ UDPゴシック" panose="020B0400000000000000" pitchFamily="50" charset="-128"/>
              <a:ea typeface="BIZ UDPゴシック" panose="020B0400000000000000" pitchFamily="50" charset="-128"/>
              <a:cs typeface="Zen Maru Gothic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2" name="Shape 30"/>
          <p:cNvSpPr/>
          <p:nvPr/>
        </p:nvSpPr>
        <p:spPr>
          <a:xfrm>
            <a:off x="7723602" y="5676595"/>
            <a:ext cx="3943807" cy="800100"/>
          </a:xfrm>
          <a:prstGeom prst="roundRect">
            <a:avLst>
              <a:gd name="adj" fmla="val 1529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3" name="Text 31"/>
          <p:cNvSpPr txBox="1"/>
          <p:nvPr/>
        </p:nvSpPr>
        <p:spPr>
          <a:xfrm>
            <a:off x="8094849" y="5838444"/>
            <a:ext cx="36009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解決しない場合のお問い合わせ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885451" y="5885681"/>
            <a:ext cx="133502" cy="133502"/>
          </a:xfrm>
          <a:prstGeom prst="rect">
            <a:avLst/>
          </a:prstGeom>
        </p:spPr>
      </p:pic>
      <p:sp>
        <p:nvSpPr>
          <p:cNvPr id="45" name="Shape 32"/>
          <p:cNvSpPr/>
          <p:nvPr/>
        </p:nvSpPr>
        <p:spPr>
          <a:xfrm>
            <a:off x="8093796" y="6306617"/>
            <a:ext cx="2324405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6" name="Text 33"/>
          <p:cNvSpPr txBox="1"/>
          <p:nvPr/>
        </p:nvSpPr>
        <p:spPr>
          <a:xfrm>
            <a:off x="8104907" y="6099464"/>
            <a:ext cx="2417674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563EB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ui-monospace" pitchFamily="34" charset="-120"/>
              </a:rPr>
              <a:t>saitama.partners@tamanomi.com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1" name="図 50" descr="The image shows a web browser with a login page for an online store, displaying a QR code and a Japanese password reset form.&#10;&#10;AI 生成コンテンツは誤りを含む可能性があります。">
            <a:extLst>
              <a:ext uri="{FF2B5EF4-FFF2-40B4-BE49-F238E27FC236}">
                <a16:creationId xmlns:a16="http://schemas.microsoft.com/office/drawing/2014/main" id="{237A5ABB-1097-264F-42C6-0F7573463313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34811" t="26386" r="34765" b="19515"/>
          <a:stretch>
            <a:fillRect/>
          </a:stretch>
        </p:blipFill>
        <p:spPr>
          <a:xfrm>
            <a:off x="3611880" y="4252313"/>
            <a:ext cx="1847546" cy="2053343"/>
          </a:xfrm>
          <a:prstGeom prst="rect">
            <a:avLst/>
          </a:prstGeom>
        </p:spPr>
      </p:pic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14"/>
          <a:srcRect t="-18617" b="-18617"/>
          <a:stretch/>
        </p:blipFill>
        <p:spPr>
          <a:xfrm>
            <a:off x="6202933" y="5676595"/>
            <a:ext cx="171907" cy="31455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3657600" y="3429000"/>
            <a:ext cx="3657600" cy="834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4785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パスワードを設定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0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メール内の</a:t>
            </a:r>
            <a:r>
              <a:rPr kumimoji="0" lang="en-US" altLang="ja-JP" sz="1000" b="1" i="0" u="none" strike="noStrike" kern="1200" cap="none" spc="0" normalizeH="0" baseline="0" noProof="0" dirty="0">
                <a:ln>
                  <a:noFill/>
                </a:ln>
                <a:solidFill>
                  <a:srgbClr val="369579"/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【</a:t>
            </a: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69579"/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パスワードを設定する</a:t>
            </a:r>
            <a:r>
              <a:rPr kumimoji="0" lang="en-US" altLang="ja-JP" sz="1000" b="1" i="0" u="none" strike="noStrike" kern="1200" cap="none" spc="0" normalizeH="0" baseline="0" noProof="0" dirty="0">
                <a:ln>
                  <a:noFill/>
                </a:ln>
                <a:solidFill>
                  <a:srgbClr val="369579"/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】</a:t>
            </a:r>
            <a:r>
              <a:rPr kumimoji="0" lang="en-US" altLang="ja-JP" sz="10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をクリックし、パスワード設定画面で任意のパスワードを入力してください。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000" dirty="0">
              <a:solidFill>
                <a:srgbClr val="4B5563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　　　　　　　　　　　　　　　　　　　　　　　＜新しいパスワード＞</a:t>
            </a:r>
            <a:endParaRPr kumimoji="0" lang="en-US" altLang="ja-JP" sz="1000" b="0" i="0" u="none" strike="noStrike" kern="1200" cap="none" spc="0" normalizeH="0" baseline="0" noProof="0" dirty="0">
              <a:ln>
                <a:noFill/>
              </a:ln>
              <a:solidFill>
                <a:srgbClr val="4B5563"/>
              </a:solidFill>
              <a:effectLst/>
              <a:uLnTx/>
              <a:uFillTx/>
              <a:latin typeface="BIZ UDPゴシック" panose="020B0400000000000000" pitchFamily="50" charset="-128"/>
              <a:ea typeface="BIZ UDPゴシック" panose="020B04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　　　　　　　　　　　　　　　　　・</a:t>
            </a:r>
            <a:r>
              <a:rPr lang="en-US" altLang="ja-JP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8</a:t>
            </a:r>
            <a:r>
              <a:rPr lang="ja-JP" altLang="en-US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文字以上</a:t>
            </a:r>
            <a:endParaRPr lang="en-US" altLang="ja-JP" sz="1000" dirty="0">
              <a:solidFill>
                <a:srgbClr val="4B5563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　　　　　　　　　　　　　　　　　　　　　　　・英字を含む</a:t>
            </a:r>
            <a:endParaRPr kumimoji="0" lang="en-US" altLang="ja-JP" sz="1000" b="0" i="0" u="none" strike="noStrike" kern="1200" cap="none" spc="0" normalizeH="0" baseline="0" noProof="0" dirty="0">
              <a:ln>
                <a:noFill/>
              </a:ln>
              <a:solidFill>
                <a:srgbClr val="4B5563"/>
              </a:solidFill>
              <a:effectLst/>
              <a:uLnTx/>
              <a:uFillTx/>
              <a:latin typeface="BIZ UDPゴシック" panose="020B0400000000000000" pitchFamily="50" charset="-128"/>
              <a:ea typeface="BIZ UDPゴシック" panose="020B04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　　　　　　　　　　　　　　　　　・数字を含む</a:t>
            </a:r>
            <a:endParaRPr kumimoji="0" lang="en-US" altLang="ja-JP" sz="1000" b="0" i="0" u="none" strike="noStrike" kern="1200" cap="none" spc="0" normalizeH="0" baseline="0" noProof="0" dirty="0">
              <a:ln>
                <a:noFill/>
              </a:ln>
              <a:solidFill>
                <a:srgbClr val="4B5563"/>
              </a:solidFill>
              <a:effectLst/>
              <a:uLnTx/>
              <a:uFillTx/>
              <a:latin typeface="BIZ UDPゴシック" panose="020B0400000000000000" pitchFamily="50" charset="-128"/>
              <a:ea typeface="BIZ UDPゴシック" panose="020B04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　　　　　　　　　　　　　　　　　</a:t>
            </a:r>
            <a:r>
              <a:rPr lang="en-US" altLang="ja-JP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lang="ja-JP" altLang="en-US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パスワード（確認用）に</a:t>
            </a:r>
            <a:endParaRPr lang="en-US" altLang="ja-JP" sz="1000" dirty="0">
              <a:solidFill>
                <a:srgbClr val="4B5563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　　　　　　　　　　　　　　　　　　　　　　　　 再度入力する。</a:t>
            </a:r>
            <a:endParaRPr kumimoji="0" lang="en-US" altLang="ja-JP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Z UDPゴシック" panose="020B0400000000000000" pitchFamily="50" charset="-128"/>
              <a:ea typeface="BIZ UDPゴシック" panose="020B0400000000000000" pitchFamily="50" charset="-128"/>
              <a:cs typeface="+mn-cs"/>
            </a:endParaRPr>
          </a:p>
          <a:p>
            <a:pPr marL="0" indent="0" algn="l">
              <a:buNone/>
            </a:pPr>
            <a:r>
              <a:rPr lang="en-US" sz="1300" b="1" dirty="0">
                <a:solidFill>
                  <a:srgbClr val="04785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 </a:t>
            </a:r>
            <a:endParaRPr lang="en-US" sz="13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857500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-381305" y="-381305"/>
            <a:ext cx="2438705" cy="2438705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257300" y="4876495"/>
            <a:ext cx="1218895" cy="1218895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51968" y="1742846"/>
            <a:ext cx="7342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80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STEP</a:t>
            </a:r>
            <a:endParaRPr lang="en-US" sz="1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98701" y="1957730"/>
            <a:ext cx="150784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FFFFFF">
                    <a:alpha val="90000"/>
                  </a:srgb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03</a:t>
            </a:r>
            <a:endParaRPr lang="en-US" sz="6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94360" y="3290926"/>
            <a:ext cx="1676095" cy="409651"/>
          </a:xfrm>
          <a:prstGeom prst="roundRect">
            <a:avLst>
              <a:gd name="adj" fmla="val 22321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051560" y="3366821"/>
            <a:ext cx="108905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B98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所要時間 2分</a:t>
            </a:r>
            <a:endParaRPr lang="en-US" sz="13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760" r="-760"/>
          <a:stretch/>
        </p:blipFill>
        <p:spPr>
          <a:xfrm>
            <a:off x="822960" y="3417113"/>
            <a:ext cx="152705" cy="171907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rcRect/>
          <a:stretch/>
        </p:blipFill>
        <p:spPr>
          <a:xfrm>
            <a:off x="1143000" y="4157777"/>
            <a:ext cx="571500" cy="5715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8660" y="4881982"/>
            <a:ext cx="144018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ログイン・確認</a:t>
            </a:r>
            <a:endParaRPr lang="en-US" sz="15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2857500" y="0"/>
            <a:ext cx="93341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3429000" y="1181405"/>
            <a:ext cx="8191195" cy="1920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Text 11"/>
          <p:cNvSpPr txBox="1"/>
          <p:nvPr/>
        </p:nvSpPr>
        <p:spPr>
          <a:xfrm>
            <a:off x="3429000" y="381305"/>
            <a:ext cx="83823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56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管理画面ログイン・事業者情報確認</a:t>
            </a:r>
            <a:endParaRPr lang="en-US" sz="27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3449320" y="820420"/>
            <a:ext cx="8382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発行されたアカウントでログインし、登録情報に誤りがないか確認します。</a:t>
            </a:r>
            <a:endParaRPr 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3429000" y="1505102"/>
            <a:ext cx="3943807" cy="2266798"/>
          </a:xfrm>
          <a:prstGeom prst="roundRect">
            <a:avLst>
              <a:gd name="adj" fmla="val 4068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8" name="Text 14"/>
          <p:cNvSpPr txBox="1"/>
          <p:nvPr/>
        </p:nvSpPr>
        <p:spPr>
          <a:xfrm>
            <a:off x="3681984" y="1742846"/>
            <a:ext cx="3657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4785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管理画面へログイン </a:t>
            </a:r>
            <a:endParaRPr lang="en-US" sz="13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9" name="Text 15"/>
          <p:cNvSpPr txBox="1"/>
          <p:nvPr/>
        </p:nvSpPr>
        <p:spPr>
          <a:xfrm>
            <a:off x="3712464" y="2053031"/>
            <a:ext cx="35433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以下のURLへアクセスし、メールアドレスとパスワードを入力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してください。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 l="-22" r="-22"/>
          <a:stretch/>
        </p:blipFill>
        <p:spPr>
          <a:xfrm>
            <a:off x="3666744" y="2581351"/>
            <a:ext cx="3467405" cy="43799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3791102" y="2581351"/>
            <a:ext cx="26389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563EB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ui-monospace" pitchFamily="34" charset="-120"/>
              </a:rPr>
              <a:t>https://admin.tamanomi.com/login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3666744" y="3172054"/>
            <a:ext cx="1676095" cy="362102"/>
          </a:xfrm>
          <a:prstGeom prst="roundRect">
            <a:avLst>
              <a:gd name="adj" fmla="val 531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4" name="Text 18"/>
          <p:cNvSpPr txBox="1"/>
          <p:nvPr/>
        </p:nvSpPr>
        <p:spPr>
          <a:xfrm>
            <a:off x="4144061" y="3258007"/>
            <a:ext cx="11466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メールアドレス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933749" y="3293669"/>
            <a:ext cx="133502" cy="133502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5458054" y="3172054"/>
            <a:ext cx="1676095" cy="362102"/>
          </a:xfrm>
          <a:prstGeom prst="roundRect">
            <a:avLst>
              <a:gd name="adj" fmla="val 531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7" name="Text 20"/>
          <p:cNvSpPr txBox="1"/>
          <p:nvPr/>
        </p:nvSpPr>
        <p:spPr>
          <a:xfrm>
            <a:off x="6067958" y="3258007"/>
            <a:ext cx="101315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パスワード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857646" y="3293669"/>
            <a:ext cx="133502" cy="133502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3429000" y="4000500"/>
            <a:ext cx="3943807" cy="2685898"/>
          </a:xfrm>
          <a:prstGeom prst="roundRect">
            <a:avLst>
              <a:gd name="adj" fmla="val 91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8"/>
          <a:srcRect t="-20192" b="-20192"/>
          <a:stretch/>
        </p:blipFill>
        <p:spPr>
          <a:xfrm>
            <a:off x="3629254" y="4168794"/>
            <a:ext cx="190195" cy="26700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3933749" y="4200754"/>
            <a:ext cx="26005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もし</a:t>
            </a:r>
            <a:r>
              <a:rPr lang="ja-JP" altLang="en-US" sz="105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、事業者</a:t>
            </a:r>
            <a:r>
              <a:rPr lang="en-US" sz="105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情報が間違っていたら？</a:t>
            </a:r>
            <a:endParaRPr lang="en-US" sz="105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2" name="Text 23"/>
          <p:cNvSpPr txBox="1"/>
          <p:nvPr/>
        </p:nvSpPr>
        <p:spPr>
          <a:xfrm>
            <a:off x="3933749" y="4480154"/>
            <a:ext cx="3147364" cy="943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sz="1000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事業者情報は、</a:t>
            </a:r>
            <a:r>
              <a:rPr lang="en-US" sz="1000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管理画面</a:t>
            </a:r>
            <a:r>
              <a:rPr lang="ja-JP" altLang="en-US" sz="1000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から変更できません。</a:t>
            </a:r>
            <a:endParaRPr lang="en-US" sz="1000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運営事務局へ</a:t>
            </a:r>
            <a:r>
              <a:rPr lang="ja-JP" altLang="en-US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ご</a:t>
            </a:r>
            <a:r>
              <a:rPr lang="en-US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連絡</a:t>
            </a:r>
            <a:r>
              <a:rPr lang="ja-JP" altLang="en-US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いただきましたら、変更内容と変更理由を教えていただき、運営事務局のスタッフが編集を行います</a:t>
            </a:r>
            <a:r>
              <a:rPr lang="en-US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。 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9"/>
          <a:srcRect l="-1" r="-1"/>
          <a:stretch/>
        </p:blipFill>
        <p:spPr>
          <a:xfrm>
            <a:off x="7677302" y="1505102"/>
            <a:ext cx="3943807" cy="5181296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7925105" y="2095805"/>
            <a:ext cx="3448202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2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5" name="Text 25"/>
          <p:cNvSpPr txBox="1"/>
          <p:nvPr/>
        </p:nvSpPr>
        <p:spPr>
          <a:xfrm>
            <a:off x="8134502" y="1752905"/>
            <a:ext cx="3429914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 確認する項目 </a:t>
            </a:r>
            <a:endParaRPr lang="en-US" sz="13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0"/>
          <a:srcRect l="-1773" r="-1773"/>
          <a:stretch/>
        </p:blipFill>
        <p:spPr>
          <a:xfrm>
            <a:off x="7925105" y="1800454"/>
            <a:ext cx="133502" cy="171907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7925105" y="2257654"/>
            <a:ext cx="36393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ログイン後、「事業者管理」メニュー</a:t>
            </a:r>
            <a:r>
              <a:rPr lang="ja-JP" altLang="en-US" sz="1000" dirty="0">
                <a:solidFill>
                  <a:srgbClr val="6B728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から確認をお願いします</a:t>
            </a:r>
            <a:r>
              <a:rPr lang="en-US" sz="1000" dirty="0">
                <a:solidFill>
                  <a:srgbClr val="6B728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。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8" name="Shape 27"/>
          <p:cNvSpPr/>
          <p:nvPr/>
        </p:nvSpPr>
        <p:spPr>
          <a:xfrm>
            <a:off x="7925105" y="2600554"/>
            <a:ext cx="228600" cy="22860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2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11"/>
          <a:srcRect t="-13533" b="-13533"/>
          <a:stretch/>
        </p:blipFill>
        <p:spPr>
          <a:xfrm>
            <a:off x="7986370" y="2638044"/>
            <a:ext cx="105156" cy="152705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7925105" y="3231053"/>
            <a:ext cx="228600" cy="22860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2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1"/>
          <a:srcRect t="-13533" b="-13533"/>
          <a:stretch/>
        </p:blipFill>
        <p:spPr>
          <a:xfrm>
            <a:off x="7986370" y="3269458"/>
            <a:ext cx="105156" cy="152705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7925105" y="3875461"/>
            <a:ext cx="228600" cy="22860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2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47" name="Image 11" descr="preencoded.png"/>
          <p:cNvPicPr>
            <a:picLocks noChangeAspect="1"/>
          </p:cNvPicPr>
          <p:nvPr/>
        </p:nvPicPr>
        <p:blipFill>
          <a:blip r:embed="rId11"/>
          <a:srcRect t="-13533" b="-13533"/>
          <a:stretch/>
        </p:blipFill>
        <p:spPr>
          <a:xfrm>
            <a:off x="7986370" y="3925441"/>
            <a:ext cx="105156" cy="152705"/>
          </a:xfrm>
          <a:prstGeom prst="rect">
            <a:avLst/>
          </a:prstGeom>
        </p:spPr>
      </p:pic>
      <p:sp>
        <p:nvSpPr>
          <p:cNvPr id="50" name="Shape 36"/>
          <p:cNvSpPr/>
          <p:nvPr/>
        </p:nvSpPr>
        <p:spPr>
          <a:xfrm>
            <a:off x="7925105" y="4531437"/>
            <a:ext cx="228600" cy="22860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2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1" name="Image 12" descr="preencoded.png"/>
          <p:cNvPicPr>
            <a:picLocks noChangeAspect="1"/>
          </p:cNvPicPr>
          <p:nvPr/>
        </p:nvPicPr>
        <p:blipFill>
          <a:blip r:embed="rId11"/>
          <a:srcRect t="-13533" b="-13533"/>
          <a:stretch/>
        </p:blipFill>
        <p:spPr>
          <a:xfrm>
            <a:off x="7986370" y="4568927"/>
            <a:ext cx="105156" cy="152705"/>
          </a:xfrm>
          <a:prstGeom prst="rect">
            <a:avLst/>
          </a:prstGeom>
        </p:spPr>
      </p:pic>
      <p:sp>
        <p:nvSpPr>
          <p:cNvPr id="54" name="Shape 39"/>
          <p:cNvSpPr/>
          <p:nvPr/>
        </p:nvSpPr>
        <p:spPr>
          <a:xfrm>
            <a:off x="7925105" y="5195245"/>
            <a:ext cx="228600" cy="22860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2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5" name="Image 13" descr="preencoded.png"/>
          <p:cNvPicPr>
            <a:picLocks noChangeAspect="1"/>
          </p:cNvPicPr>
          <p:nvPr/>
        </p:nvPicPr>
        <p:blipFill>
          <a:blip r:embed="rId11"/>
          <a:srcRect t="-13533" b="-13533"/>
          <a:stretch/>
        </p:blipFill>
        <p:spPr>
          <a:xfrm>
            <a:off x="7986370" y="5233650"/>
            <a:ext cx="105156" cy="152705"/>
          </a:xfrm>
          <a:prstGeom prst="rect">
            <a:avLst/>
          </a:prstGeom>
        </p:spPr>
      </p:pic>
      <p:grpSp>
        <p:nvGrpSpPr>
          <p:cNvPr id="58" name="グループ化 57">
            <a:extLst>
              <a:ext uri="{FF2B5EF4-FFF2-40B4-BE49-F238E27FC236}">
                <a16:creationId xmlns:a16="http://schemas.microsoft.com/office/drawing/2014/main" id="{82FF3DE9-3AA2-BCB9-1E9D-34273FFBAFEE}"/>
              </a:ext>
            </a:extLst>
          </p:cNvPr>
          <p:cNvGrpSpPr/>
          <p:nvPr/>
        </p:nvGrpSpPr>
        <p:grpSpPr>
          <a:xfrm>
            <a:off x="8268004" y="2562149"/>
            <a:ext cx="3842716" cy="3031879"/>
            <a:chOff x="8268004" y="2562149"/>
            <a:chExt cx="2326644" cy="2324405"/>
          </a:xfrm>
        </p:grpSpPr>
        <p:sp>
          <p:nvSpPr>
            <p:cNvPr id="40" name="Text 28"/>
            <p:cNvSpPr txBox="1"/>
            <p:nvPr/>
          </p:nvSpPr>
          <p:spPr>
            <a:xfrm>
              <a:off x="8268005" y="2562149"/>
              <a:ext cx="189280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ja-JP" altLang="en-US" sz="1050" b="1" dirty="0">
                  <a:solidFill>
                    <a:srgbClr val="37415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Zen Maru Gothic" pitchFamily="34" charset="-120"/>
                </a:rPr>
                <a:t>事業者</a:t>
              </a:r>
              <a:r>
                <a:rPr lang="en-US" sz="1050" b="1" dirty="0">
                  <a:solidFill>
                    <a:srgbClr val="37415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Zen Maru Gothic" pitchFamily="34" charset="-120"/>
                </a:rPr>
                <a:t>名・フリガナ</a:t>
              </a:r>
              <a:endParaRPr lang="en-US" sz="105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41" name="Text 29"/>
            <p:cNvSpPr txBox="1"/>
            <p:nvPr/>
          </p:nvSpPr>
          <p:spPr>
            <a:xfrm>
              <a:off x="8268005" y="2752344"/>
              <a:ext cx="1892808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CA3AF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Zen Maru Gothic" pitchFamily="34" charset="-120"/>
                </a:rPr>
                <a:t>お客様に表示される名称です</a:t>
              </a:r>
              <a:endParaRPr 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44" name="Text 31"/>
            <p:cNvSpPr txBox="1"/>
            <p:nvPr/>
          </p:nvSpPr>
          <p:spPr>
            <a:xfrm>
              <a:off x="8268005" y="3057754"/>
              <a:ext cx="1518959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37415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Zen Maru Gothic" pitchFamily="34" charset="-120"/>
                </a:rPr>
                <a:t>代表者名・フリガナ</a:t>
              </a:r>
              <a:endParaRPr lang="en-US" sz="105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45" name="Text 32"/>
            <p:cNvSpPr txBox="1"/>
            <p:nvPr/>
          </p:nvSpPr>
          <p:spPr>
            <a:xfrm>
              <a:off x="8268005" y="3247949"/>
              <a:ext cx="1518959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CA3AF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Zen Maru Gothic" pitchFamily="34" charset="-120"/>
                </a:rPr>
                <a:t>例：サイタマ タロウ</a:t>
              </a:r>
              <a:endParaRPr 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48" name="Text 34"/>
            <p:cNvSpPr txBox="1"/>
            <p:nvPr/>
          </p:nvSpPr>
          <p:spPr>
            <a:xfrm>
              <a:off x="8268005" y="3552444"/>
              <a:ext cx="2326643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37415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Zen Maru Gothic" pitchFamily="34" charset="-120"/>
                </a:rPr>
                <a:t>住所（郵便番号・所在地）</a:t>
              </a:r>
              <a:endParaRPr lang="en-US" sz="105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49" name="Text 35"/>
            <p:cNvSpPr txBox="1"/>
            <p:nvPr/>
          </p:nvSpPr>
          <p:spPr>
            <a:xfrm>
              <a:off x="8268005" y="3743554"/>
              <a:ext cx="2326643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CA3AF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Zen Maru Gothic" pitchFamily="34" charset="-120"/>
                </a:rPr>
                <a:t>建物名まで正確に入力されているか</a:t>
              </a:r>
              <a:endParaRPr 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52" name="Text 37"/>
            <p:cNvSpPr txBox="1"/>
            <p:nvPr/>
          </p:nvSpPr>
          <p:spPr>
            <a:xfrm>
              <a:off x="8268004" y="4048049"/>
              <a:ext cx="2217381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37415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Zen Maru Gothic" pitchFamily="34" charset="-120"/>
                </a:rPr>
                <a:t>電話番号</a:t>
              </a:r>
              <a:endParaRPr lang="en-US" sz="105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53" name="Text 38"/>
            <p:cNvSpPr txBox="1"/>
            <p:nvPr/>
          </p:nvSpPr>
          <p:spPr>
            <a:xfrm>
              <a:off x="8268004" y="4238244"/>
              <a:ext cx="2217381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CA3AF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Zen Maru Gothic" pitchFamily="34" charset="-120"/>
                </a:rPr>
                <a:t>ハイフンあり・なし どちらでも可</a:t>
              </a:r>
              <a:endParaRPr 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56" name="Text 40"/>
            <p:cNvSpPr txBox="1"/>
            <p:nvPr/>
          </p:nvSpPr>
          <p:spPr>
            <a:xfrm>
              <a:off x="8268005" y="4543654"/>
              <a:ext cx="1748196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37415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Zen Maru Gothic" pitchFamily="34" charset="-120"/>
                </a:rPr>
                <a:t>メールアドレス</a:t>
              </a:r>
              <a:endParaRPr lang="en-US" sz="105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57" name="Text 41"/>
            <p:cNvSpPr txBox="1"/>
            <p:nvPr/>
          </p:nvSpPr>
          <p:spPr>
            <a:xfrm>
              <a:off x="8268005" y="4733849"/>
              <a:ext cx="1748196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CA3AF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Zen Maru Gothic" pitchFamily="34" charset="-120"/>
                </a:rPr>
                <a:t>重要なお知らせが届きます</a:t>
              </a:r>
              <a:endParaRPr 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  <p:sp>
        <p:nvSpPr>
          <p:cNvPr id="59" name="Shape 39">
            <a:extLst>
              <a:ext uri="{FF2B5EF4-FFF2-40B4-BE49-F238E27FC236}">
                <a16:creationId xmlns:a16="http://schemas.microsoft.com/office/drawing/2014/main" id="{1EC107A4-3EA5-6E7F-5FCA-B6CDA0ACEEBE}"/>
              </a:ext>
            </a:extLst>
          </p:cNvPr>
          <p:cNvSpPr/>
          <p:nvPr/>
        </p:nvSpPr>
        <p:spPr>
          <a:xfrm>
            <a:off x="7944307" y="5823394"/>
            <a:ext cx="228600" cy="22860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2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60" name="Image 13" descr="preencoded.png">
            <a:extLst>
              <a:ext uri="{FF2B5EF4-FFF2-40B4-BE49-F238E27FC236}">
                <a16:creationId xmlns:a16="http://schemas.microsoft.com/office/drawing/2014/main" id="{76C6171E-36B4-BA54-12D3-E87D7FF378B8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-13533" b="-13533"/>
          <a:stretch/>
        </p:blipFill>
        <p:spPr>
          <a:xfrm>
            <a:off x="8009026" y="5871501"/>
            <a:ext cx="105156" cy="152705"/>
          </a:xfrm>
          <a:prstGeom prst="rect">
            <a:avLst/>
          </a:prstGeom>
        </p:spPr>
      </p:pic>
      <p:sp>
        <p:nvSpPr>
          <p:cNvPr id="61" name="Text 40">
            <a:extLst>
              <a:ext uri="{FF2B5EF4-FFF2-40B4-BE49-F238E27FC236}">
                <a16:creationId xmlns:a16="http://schemas.microsoft.com/office/drawing/2014/main" id="{E1123CC5-B262-4B88-D1D1-3C5FD147CB52}"/>
              </a:ext>
            </a:extLst>
          </p:cNvPr>
          <p:cNvSpPr txBox="1"/>
          <p:nvPr/>
        </p:nvSpPr>
        <p:spPr>
          <a:xfrm>
            <a:off x="8268006" y="5777026"/>
            <a:ext cx="2887344" cy="276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050" b="1" dirty="0">
                <a:solidFill>
                  <a:srgbClr val="37415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アカウントステータス</a:t>
            </a:r>
            <a:endParaRPr lang="en-US" sz="105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2" name="Text 41">
            <a:extLst>
              <a:ext uri="{FF2B5EF4-FFF2-40B4-BE49-F238E27FC236}">
                <a16:creationId xmlns:a16="http://schemas.microsoft.com/office/drawing/2014/main" id="{DED6331C-1F47-7FFC-825C-1F7C76CCEDBF}"/>
              </a:ext>
            </a:extLst>
          </p:cNvPr>
          <p:cNvSpPr txBox="1"/>
          <p:nvPr/>
        </p:nvSpPr>
        <p:spPr>
          <a:xfrm>
            <a:off x="8268006" y="6053618"/>
            <a:ext cx="2887344" cy="199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000" dirty="0">
                <a:solidFill>
                  <a:srgbClr val="9CA3A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「発行済み」になっている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65641AFA-F77D-D80C-4205-36693689955C}"/>
              </a:ext>
            </a:extLst>
          </p:cNvPr>
          <p:cNvSpPr txBox="1"/>
          <p:nvPr/>
        </p:nvSpPr>
        <p:spPr>
          <a:xfrm>
            <a:off x="3828034" y="5459561"/>
            <a:ext cx="3335020" cy="976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＜アカウント情報編集について＞</a:t>
            </a:r>
            <a:endParaRPr kumimoji="0" lang="en-US" altLang="ja-JP" sz="1000" b="0" i="0" u="none" strike="noStrike" kern="1200" cap="none" spc="0" normalizeH="0" baseline="0" noProof="0" dirty="0">
              <a:ln>
                <a:noFill/>
              </a:ln>
              <a:solidFill>
                <a:srgbClr val="4B5563"/>
              </a:solidFill>
              <a:effectLst/>
              <a:uLnTx/>
              <a:uFillTx/>
              <a:latin typeface="BIZ UDPゴシック" panose="020B0400000000000000" pitchFamily="50" charset="-128"/>
              <a:ea typeface="BIZ UDPゴシック" panose="020B04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画面の下部にある</a:t>
            </a:r>
            <a:r>
              <a:rPr kumimoji="0" lang="en-US" altLang="ja-JP" sz="10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【</a:t>
            </a:r>
            <a:r>
              <a:rPr kumimoji="0" lang="ja-JP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アカウント情報編集</a:t>
            </a:r>
            <a:r>
              <a:rPr kumimoji="0" lang="en-US" altLang="ja-JP" sz="10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】</a:t>
            </a:r>
            <a:r>
              <a:rPr kumimoji="0" lang="ja-JP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をクリックして</a:t>
            </a:r>
            <a:endParaRPr kumimoji="0" lang="en-US" altLang="ja-JP" sz="1000" b="0" i="0" u="none" strike="noStrike" kern="1200" cap="none" spc="0" normalizeH="0" baseline="0" noProof="0" dirty="0">
              <a:ln>
                <a:noFill/>
              </a:ln>
              <a:solidFill>
                <a:srgbClr val="4B5563"/>
              </a:solidFill>
              <a:effectLst/>
              <a:uLnTx/>
              <a:uFillTx/>
              <a:latin typeface="BIZ UDPゴシック" panose="020B0400000000000000" pitchFamily="50" charset="-128"/>
              <a:ea typeface="BIZ UDPゴシック" panose="020B04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  <a:cs typeface="+mn-cs"/>
              </a:rPr>
              <a:t>アカウント情報編集画面からメールアドレスの変更とパスワードの変更は行うことは出来ます。</a:t>
            </a:r>
            <a:endParaRPr kumimoji="0" lang="en-US" altLang="ja-JP" sz="1000" b="0" i="0" u="none" strike="noStrike" kern="1200" cap="none" spc="0" normalizeH="0" baseline="0" noProof="0" dirty="0">
              <a:ln>
                <a:noFill/>
              </a:ln>
              <a:solidFill>
                <a:srgbClr val="4B5563"/>
              </a:solidFill>
              <a:effectLst/>
              <a:uLnTx/>
              <a:uFillTx/>
              <a:latin typeface="BIZ UDPゴシック" panose="020B0400000000000000" pitchFamily="50" charset="-128"/>
              <a:ea typeface="BIZ UDPゴシック" panose="020B0400000000000000" pitchFamily="50" charset="-128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857500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-381305" y="-381305"/>
            <a:ext cx="2438705" cy="2438705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257300" y="4876495"/>
            <a:ext cx="1218895" cy="1218895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2366" y="1709928"/>
            <a:ext cx="7342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80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STEP</a:t>
            </a:r>
            <a:endParaRPr lang="en-US" sz="1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70562" y="1957730"/>
            <a:ext cx="150967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FFFFFF">
                    <a:alpha val="90000"/>
                  </a:srgb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04</a:t>
            </a:r>
            <a:endParaRPr lang="en-US" sz="6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92531" y="3290926"/>
            <a:ext cx="1676095" cy="409651"/>
          </a:xfrm>
          <a:prstGeom prst="roundRect">
            <a:avLst>
              <a:gd name="adj" fmla="val 22321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049731" y="3366821"/>
            <a:ext cx="108905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B98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所要時間 5分</a:t>
            </a:r>
            <a:endParaRPr lang="en-US" sz="13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760" r="-760"/>
          <a:stretch/>
        </p:blipFill>
        <p:spPr>
          <a:xfrm>
            <a:off x="821131" y="3417113"/>
            <a:ext cx="152705" cy="171907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rcRect l="-347" r="-347"/>
          <a:stretch/>
        </p:blipFill>
        <p:spPr>
          <a:xfrm>
            <a:off x="1104595" y="4157777"/>
            <a:ext cx="647395" cy="5715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09498" y="4881982"/>
            <a:ext cx="8385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店舗登録</a:t>
            </a:r>
            <a:endParaRPr lang="en-US" sz="15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2857500" y="0"/>
            <a:ext cx="93341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3429000" y="1219810"/>
            <a:ext cx="8191195" cy="1920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Text 11"/>
          <p:cNvSpPr txBox="1"/>
          <p:nvPr/>
        </p:nvSpPr>
        <p:spPr>
          <a:xfrm>
            <a:off x="3429000" y="381305"/>
            <a:ext cx="84966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店舗情報の登録 </a:t>
            </a:r>
            <a:r>
              <a:rPr lang="ja-JP" altLang="en-US" sz="2700" b="1" kern="0" spc="-67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①</a:t>
            </a:r>
            <a:endParaRPr lang="en-US" sz="27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3429000" y="838505"/>
            <a:ext cx="8382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お店の魅力をお客様に伝えるための情報を登録します。</a:t>
            </a:r>
            <a:endParaRPr 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l="-6" r="-6"/>
          <a:stretch/>
        </p:blipFill>
        <p:spPr>
          <a:xfrm>
            <a:off x="3429000" y="1570870"/>
            <a:ext cx="3943807" cy="129794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857854" y="1771123"/>
            <a:ext cx="35058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300" b="1" dirty="0">
                <a:solidFill>
                  <a:srgbClr val="1E40A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店舗情報の</a:t>
            </a:r>
            <a:r>
              <a:rPr lang="en-US" sz="1300" b="1" dirty="0">
                <a:solidFill>
                  <a:srgbClr val="1E40A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登録の</a:t>
            </a:r>
            <a:r>
              <a:rPr lang="ja-JP" altLang="en-US" sz="1300" b="1" dirty="0">
                <a:solidFill>
                  <a:srgbClr val="1E40A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方法</a:t>
            </a:r>
            <a:r>
              <a:rPr lang="en-US" sz="1300" b="1" dirty="0">
                <a:solidFill>
                  <a:srgbClr val="1E40A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 </a:t>
            </a:r>
            <a:endParaRPr lang="en-US" sz="13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 l="-760" r="-760"/>
          <a:stretch/>
        </p:blipFill>
        <p:spPr>
          <a:xfrm>
            <a:off x="3629254" y="1818672"/>
            <a:ext cx="152705" cy="171907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3629254" y="2152428"/>
            <a:ext cx="3543300" cy="437998"/>
          </a:xfrm>
          <a:prstGeom prst="roundRect">
            <a:avLst>
              <a:gd name="adj" fmla="val 36307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1" name="Text 15"/>
          <p:cNvSpPr txBox="1"/>
          <p:nvPr/>
        </p:nvSpPr>
        <p:spPr>
          <a:xfrm>
            <a:off x="3764273" y="2275872"/>
            <a:ext cx="3288516" cy="193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1000" b="1" dirty="0">
                <a:solidFill>
                  <a:srgbClr val="37415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【</a:t>
            </a:r>
            <a:r>
              <a:rPr lang="en-US" sz="1000" b="1" dirty="0">
                <a:solidFill>
                  <a:srgbClr val="37415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店舗管理</a:t>
            </a:r>
            <a:r>
              <a:rPr lang="ja-JP" altLang="en-US" sz="1000" b="1" dirty="0">
                <a:solidFill>
                  <a:srgbClr val="37415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（店舗一覧画面）</a:t>
            </a:r>
            <a:r>
              <a:rPr lang="en-US" altLang="ja-JP" sz="1000" b="1" dirty="0">
                <a:solidFill>
                  <a:srgbClr val="37415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】</a:t>
            </a:r>
            <a:r>
              <a:rPr lang="ja-JP" altLang="en-US" sz="1000" b="1" dirty="0">
                <a:solidFill>
                  <a:srgbClr val="37415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　　「</a:t>
            </a:r>
            <a:r>
              <a:rPr lang="en-US" sz="1000" b="1" dirty="0">
                <a:solidFill>
                  <a:srgbClr val="37415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新規登録</a:t>
            </a:r>
            <a:r>
              <a:rPr lang="ja-JP" altLang="en-US" sz="1000" b="1" dirty="0">
                <a:solidFill>
                  <a:srgbClr val="37415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」ボタンをクリック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72" name="Image 3" descr="preencoded.png">
            <a:extLst>
              <a:ext uri="{FF2B5EF4-FFF2-40B4-BE49-F238E27FC236}">
                <a16:creationId xmlns:a16="http://schemas.microsoft.com/office/drawing/2014/main" id="{0F6CD6CA-8945-31D5-DAC2-862599EF02B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5301858" y="2317089"/>
            <a:ext cx="95098" cy="152705"/>
          </a:xfrm>
          <a:prstGeom prst="rect">
            <a:avLst/>
          </a:prstGeom>
        </p:spPr>
      </p:pic>
      <p:pic>
        <p:nvPicPr>
          <p:cNvPr id="74" name="図 73" descr="The image shows a computer screen displaying a Japanese web page with a download button and text related to store management and customer service.&#10;&#10;AI 生成コンテンツは誤りを含む可能性があります。">
            <a:extLst>
              <a:ext uri="{FF2B5EF4-FFF2-40B4-BE49-F238E27FC236}">
                <a16:creationId xmlns:a16="http://schemas.microsoft.com/office/drawing/2014/main" id="{27C9F694-B63E-1FF6-7670-A5F8F08E42A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0465" t="27507" r="11414" b="13893"/>
          <a:stretch>
            <a:fillRect/>
          </a:stretch>
        </p:blipFill>
        <p:spPr>
          <a:xfrm>
            <a:off x="3412238" y="3030660"/>
            <a:ext cx="3943807" cy="184894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03569440-5D5D-5808-2C5D-4B83A6B6B757}"/>
              </a:ext>
            </a:extLst>
          </p:cNvPr>
          <p:cNvSpPr txBox="1"/>
          <p:nvPr/>
        </p:nvSpPr>
        <p:spPr>
          <a:xfrm>
            <a:off x="3395476" y="5022326"/>
            <a:ext cx="3960569" cy="599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1200" dirty="0">
                <a:solidFill>
                  <a:srgbClr val="646976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「店舗管理」内の「新規登録」より、店舗情報を登録して</a:t>
            </a:r>
            <a:endParaRPr lang="en-US" altLang="ja-JP" sz="1200" dirty="0">
              <a:solidFill>
                <a:srgbClr val="646976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200" dirty="0">
                <a:solidFill>
                  <a:srgbClr val="646976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ください。 複数の店舗を登録することも可能です。</a:t>
            </a:r>
          </a:p>
        </p:txBody>
      </p:sp>
      <p:pic>
        <p:nvPicPr>
          <p:cNvPr id="78" name="図 77" descr="Tamanomi&#10;&#10;AI 生成コンテンツは誤りを含む可能性があります。">
            <a:extLst>
              <a:ext uri="{FF2B5EF4-FFF2-40B4-BE49-F238E27FC236}">
                <a16:creationId xmlns:a16="http://schemas.microsoft.com/office/drawing/2014/main" id="{BD02E672-616F-2B62-F047-0CF8A7E4989A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2787" r="41386" b="6120"/>
          <a:stretch>
            <a:fillRect/>
          </a:stretch>
        </p:blipFill>
        <p:spPr>
          <a:xfrm>
            <a:off x="7601408" y="1584382"/>
            <a:ext cx="4447657" cy="384586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9" name="Image 4" descr="preencoded.png">
            <a:extLst>
              <a:ext uri="{FF2B5EF4-FFF2-40B4-BE49-F238E27FC236}">
                <a16:creationId xmlns:a16="http://schemas.microsoft.com/office/drawing/2014/main" id="{385F53D5-74D2-BAE1-D24B-50A595D977B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-18617" b="-18617"/>
          <a:stretch/>
        </p:blipFill>
        <p:spPr>
          <a:xfrm rot="16200000">
            <a:off x="7384542" y="3669521"/>
            <a:ext cx="171907" cy="314554"/>
          </a:xfrm>
          <a:prstGeom prst="rect">
            <a:avLst/>
          </a:prstGeom>
        </p:spPr>
      </p:pic>
      <p:sp>
        <p:nvSpPr>
          <p:cNvPr id="80" name="Text 16">
            <a:extLst>
              <a:ext uri="{FF2B5EF4-FFF2-40B4-BE49-F238E27FC236}">
                <a16:creationId xmlns:a16="http://schemas.microsoft.com/office/drawing/2014/main" id="{18045D3D-ADA5-1891-8916-99FA88B99F3D}"/>
              </a:ext>
            </a:extLst>
          </p:cNvPr>
          <p:cNvSpPr txBox="1"/>
          <p:nvPr/>
        </p:nvSpPr>
        <p:spPr>
          <a:xfrm>
            <a:off x="7837018" y="5543343"/>
            <a:ext cx="344545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 「事業者情報をコピー」ボタンで入力が楽になります。 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81" name="Image 5" descr="preencoded.png">
            <a:extLst>
              <a:ext uri="{FF2B5EF4-FFF2-40B4-BE49-F238E27FC236}">
                <a16:creationId xmlns:a16="http://schemas.microsoft.com/office/drawing/2014/main" id="{25A2F543-1B2C-0FBF-0BB3-61C1F8678B9B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-17826" b="-17826"/>
          <a:stretch/>
        </p:blipFill>
        <p:spPr>
          <a:xfrm>
            <a:off x="7662368" y="5543343"/>
            <a:ext cx="105156" cy="190195"/>
          </a:xfrm>
          <a:prstGeom prst="rect">
            <a:avLst/>
          </a:prstGeom>
        </p:spPr>
      </p:pic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30D38162-DDBB-8976-0115-6B4B0A943A71}"/>
              </a:ext>
            </a:extLst>
          </p:cNvPr>
          <p:cNvSpPr/>
          <p:nvPr/>
        </p:nvSpPr>
        <p:spPr>
          <a:xfrm>
            <a:off x="8772144" y="2365248"/>
            <a:ext cx="664464" cy="21298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3A566-C1EF-7FFE-797D-F9BE0F3CB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7B21833-3938-284D-3E83-AB5F8285CB5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65A399D-504E-8F6B-58D4-2B6D5B65C719}"/>
              </a:ext>
            </a:extLst>
          </p:cNvPr>
          <p:cNvSpPr/>
          <p:nvPr/>
        </p:nvSpPr>
        <p:spPr>
          <a:xfrm>
            <a:off x="0" y="0"/>
            <a:ext cx="2857500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9FE28FB-AA2A-2573-13E2-950C618D9E11}"/>
              </a:ext>
            </a:extLst>
          </p:cNvPr>
          <p:cNvSpPr/>
          <p:nvPr/>
        </p:nvSpPr>
        <p:spPr>
          <a:xfrm>
            <a:off x="-381305" y="-381305"/>
            <a:ext cx="2438705" cy="2438705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8E1CC13-3157-11BA-D91C-DE41D99338A5}"/>
              </a:ext>
            </a:extLst>
          </p:cNvPr>
          <p:cNvSpPr/>
          <p:nvPr/>
        </p:nvSpPr>
        <p:spPr>
          <a:xfrm>
            <a:off x="1257300" y="4876495"/>
            <a:ext cx="1218895" cy="1218895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6D8F054-155E-FFF0-4C02-5908BB8C74C3}"/>
              </a:ext>
            </a:extLst>
          </p:cNvPr>
          <p:cNvSpPr txBox="1"/>
          <p:nvPr/>
        </p:nvSpPr>
        <p:spPr>
          <a:xfrm>
            <a:off x="642366" y="1709928"/>
            <a:ext cx="7342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80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STEP</a:t>
            </a:r>
            <a:endParaRPr lang="en-US" sz="1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72F5F07-B65D-DB89-2C71-49D128F2E461}"/>
              </a:ext>
            </a:extLst>
          </p:cNvPr>
          <p:cNvSpPr txBox="1"/>
          <p:nvPr/>
        </p:nvSpPr>
        <p:spPr>
          <a:xfrm>
            <a:off x="570562" y="1957730"/>
            <a:ext cx="150967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FFFFFF">
                    <a:alpha val="90000"/>
                  </a:srgb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04</a:t>
            </a:r>
            <a:endParaRPr lang="en-US" sz="6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129E3FD-DC77-448D-4F99-42F33A09BE5A}"/>
              </a:ext>
            </a:extLst>
          </p:cNvPr>
          <p:cNvSpPr/>
          <p:nvPr/>
        </p:nvSpPr>
        <p:spPr>
          <a:xfrm>
            <a:off x="592531" y="3290926"/>
            <a:ext cx="1676095" cy="409651"/>
          </a:xfrm>
          <a:prstGeom prst="roundRect">
            <a:avLst>
              <a:gd name="adj" fmla="val 22321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809DFC1-3766-00FC-49B4-A413F39AE861}"/>
              </a:ext>
            </a:extLst>
          </p:cNvPr>
          <p:cNvSpPr txBox="1"/>
          <p:nvPr/>
        </p:nvSpPr>
        <p:spPr>
          <a:xfrm>
            <a:off x="1049731" y="3366821"/>
            <a:ext cx="108905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B98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所要時間 5分</a:t>
            </a:r>
            <a:endParaRPr lang="en-US" sz="13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154F4F67-68AB-F451-E769-E5A4B5F40F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60" r="-760"/>
          <a:stretch/>
        </p:blipFill>
        <p:spPr>
          <a:xfrm>
            <a:off x="821131" y="3417113"/>
            <a:ext cx="152705" cy="171907"/>
          </a:xfrm>
          <a:prstGeom prst="rect">
            <a:avLst/>
          </a:prstGeom>
        </p:spPr>
      </p:pic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7B3F8542-5596-71B3-5491-736F74325E3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</a:blip>
          <a:srcRect l="-347" r="-347"/>
          <a:stretch/>
        </p:blipFill>
        <p:spPr>
          <a:xfrm>
            <a:off x="1104595" y="4157777"/>
            <a:ext cx="647395" cy="571500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F015199A-7724-7358-7802-ACD8DED73F3B}"/>
              </a:ext>
            </a:extLst>
          </p:cNvPr>
          <p:cNvSpPr txBox="1"/>
          <p:nvPr/>
        </p:nvSpPr>
        <p:spPr>
          <a:xfrm>
            <a:off x="1009498" y="4881982"/>
            <a:ext cx="8385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店舗登録</a:t>
            </a:r>
            <a:endParaRPr lang="en-US" sz="15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4C58EF49-CA64-E05F-D954-FFDD7C97994D}"/>
              </a:ext>
            </a:extLst>
          </p:cNvPr>
          <p:cNvSpPr/>
          <p:nvPr/>
        </p:nvSpPr>
        <p:spPr>
          <a:xfrm>
            <a:off x="2857500" y="0"/>
            <a:ext cx="93341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A60C9786-0EDF-D175-5268-9CC7955C3A78}"/>
              </a:ext>
            </a:extLst>
          </p:cNvPr>
          <p:cNvSpPr/>
          <p:nvPr/>
        </p:nvSpPr>
        <p:spPr>
          <a:xfrm>
            <a:off x="3429000" y="1219810"/>
            <a:ext cx="8191195" cy="1920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1C33B76C-5E6E-B48E-2EA0-726B402290D8}"/>
              </a:ext>
            </a:extLst>
          </p:cNvPr>
          <p:cNvSpPr txBox="1"/>
          <p:nvPr/>
        </p:nvSpPr>
        <p:spPr>
          <a:xfrm>
            <a:off x="3429000" y="381305"/>
            <a:ext cx="84966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店舗情報の登録 </a:t>
            </a:r>
            <a:r>
              <a:rPr lang="ja-JP" altLang="en-US" sz="2700" b="1" kern="0" spc="-67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②</a:t>
            </a:r>
            <a:endParaRPr lang="en-US" sz="27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365C665B-2891-58EB-EC21-94015A0B856B}"/>
              </a:ext>
            </a:extLst>
          </p:cNvPr>
          <p:cNvSpPr txBox="1"/>
          <p:nvPr/>
        </p:nvSpPr>
        <p:spPr>
          <a:xfrm>
            <a:off x="3429000" y="838505"/>
            <a:ext cx="8382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お店の魅力をお客様に伝えるための情報を登録します。</a:t>
            </a:r>
            <a:endParaRPr 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5" name="Image 6" descr="preencoded.png">
            <a:extLst>
              <a:ext uri="{FF2B5EF4-FFF2-40B4-BE49-F238E27FC236}">
                <a16:creationId xmlns:a16="http://schemas.microsoft.com/office/drawing/2014/main" id="{56BEE9BC-AA96-1A3F-70C2-3EBF3B093FE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3" r="-3"/>
          <a:stretch/>
        </p:blipFill>
        <p:spPr>
          <a:xfrm>
            <a:off x="3429000" y="1466698"/>
            <a:ext cx="3943807" cy="3262579"/>
          </a:xfrm>
          <a:prstGeom prst="rect">
            <a:avLst/>
          </a:prstGeom>
        </p:spPr>
      </p:pic>
      <p:sp>
        <p:nvSpPr>
          <p:cNvPr id="26" name="Text 17">
            <a:extLst>
              <a:ext uri="{FF2B5EF4-FFF2-40B4-BE49-F238E27FC236}">
                <a16:creationId xmlns:a16="http://schemas.microsoft.com/office/drawing/2014/main" id="{95AFD97C-B41C-8118-10FE-DD4D6FDD4650}"/>
              </a:ext>
            </a:extLst>
          </p:cNvPr>
          <p:cNvSpPr txBox="1"/>
          <p:nvPr/>
        </p:nvSpPr>
        <p:spPr>
          <a:xfrm>
            <a:off x="3896258" y="1635558"/>
            <a:ext cx="34674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91C1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地図の位置設定 </a:t>
            </a:r>
            <a:endParaRPr lang="en-US" sz="13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7" name="Image 7" descr="preencoded.png">
            <a:extLst>
              <a:ext uri="{FF2B5EF4-FFF2-40B4-BE49-F238E27FC236}">
                <a16:creationId xmlns:a16="http://schemas.microsoft.com/office/drawing/2014/main" id="{4CF865A8-2AC1-5F04-EE10-3ADE06EB7A8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842" b="-842"/>
          <a:stretch/>
        </p:blipFill>
        <p:spPr>
          <a:xfrm>
            <a:off x="3629254" y="1683106"/>
            <a:ext cx="190195" cy="171907"/>
          </a:xfrm>
          <a:prstGeom prst="rect">
            <a:avLst/>
          </a:prstGeom>
        </p:spPr>
      </p:pic>
      <p:sp>
        <p:nvSpPr>
          <p:cNvPr id="28" name="Text 18">
            <a:extLst>
              <a:ext uri="{FF2B5EF4-FFF2-40B4-BE49-F238E27FC236}">
                <a16:creationId xmlns:a16="http://schemas.microsoft.com/office/drawing/2014/main" id="{71B5CFC2-217E-6D76-44D8-9F41CBAE6ECA}"/>
              </a:ext>
            </a:extLst>
          </p:cNvPr>
          <p:cNvSpPr txBox="1"/>
          <p:nvPr/>
        </p:nvSpPr>
        <p:spPr>
          <a:xfrm>
            <a:off x="3629254" y="1926582"/>
            <a:ext cx="36201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Googleマップと連携するため、緯度・経度の入力が必要です。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9" name="Image 8" descr="preencoded.png">
            <a:extLst>
              <a:ext uri="{FF2B5EF4-FFF2-40B4-BE49-F238E27FC236}">
                <a16:creationId xmlns:a16="http://schemas.microsoft.com/office/drawing/2014/main" id="{529562F3-45BE-A095-CCAD-BA4C7D71A70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4" r="-4"/>
          <a:stretch/>
        </p:blipFill>
        <p:spPr>
          <a:xfrm>
            <a:off x="3629254" y="2535235"/>
            <a:ext cx="3543300" cy="1923828"/>
          </a:xfrm>
          <a:prstGeom prst="rect">
            <a:avLst/>
          </a:prstGeom>
        </p:spPr>
      </p:pic>
      <p:sp>
        <p:nvSpPr>
          <p:cNvPr id="30" name="Shape 19">
            <a:extLst>
              <a:ext uri="{FF2B5EF4-FFF2-40B4-BE49-F238E27FC236}">
                <a16:creationId xmlns:a16="http://schemas.microsoft.com/office/drawing/2014/main" id="{9688CF26-9F52-4890-1DC2-A15945A65E09}"/>
              </a:ext>
            </a:extLst>
          </p:cNvPr>
          <p:cNvSpPr/>
          <p:nvPr/>
        </p:nvSpPr>
        <p:spPr>
          <a:xfrm>
            <a:off x="3791102" y="2965003"/>
            <a:ext cx="3219602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1" name="Text 20">
            <a:extLst>
              <a:ext uri="{FF2B5EF4-FFF2-40B4-BE49-F238E27FC236}">
                <a16:creationId xmlns:a16="http://schemas.microsoft.com/office/drawing/2014/main" id="{77AB7C6B-5410-D741-7B9A-678C9E0BEA33}"/>
              </a:ext>
            </a:extLst>
          </p:cNvPr>
          <p:cNvSpPr txBox="1"/>
          <p:nvPr/>
        </p:nvSpPr>
        <p:spPr>
          <a:xfrm>
            <a:off x="3791102" y="2697998"/>
            <a:ext cx="3296412" cy="1920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わからない場合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2" name="Shape 21">
            <a:extLst>
              <a:ext uri="{FF2B5EF4-FFF2-40B4-BE49-F238E27FC236}">
                <a16:creationId xmlns:a16="http://schemas.microsoft.com/office/drawing/2014/main" id="{7C634082-B9E9-6086-20E2-23B5233FDF64}"/>
              </a:ext>
            </a:extLst>
          </p:cNvPr>
          <p:cNvSpPr/>
          <p:nvPr/>
        </p:nvSpPr>
        <p:spPr>
          <a:xfrm>
            <a:off x="3791102" y="3088447"/>
            <a:ext cx="514807" cy="580644"/>
          </a:xfrm>
          <a:prstGeom prst="roundRect">
            <a:avLst>
              <a:gd name="adj" fmla="val 2631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97595ABC-B93E-3703-0853-86A5FC7B249E}"/>
              </a:ext>
            </a:extLst>
          </p:cNvPr>
          <p:cNvSpPr txBox="1"/>
          <p:nvPr/>
        </p:nvSpPr>
        <p:spPr>
          <a:xfrm>
            <a:off x="3914546" y="3173486"/>
            <a:ext cx="2670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緯度</a:t>
            </a:r>
            <a:endParaRPr lang="en-US" sz="8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4" name="Text 23">
            <a:extLst>
              <a:ext uri="{FF2B5EF4-FFF2-40B4-BE49-F238E27FC236}">
                <a16:creationId xmlns:a16="http://schemas.microsoft.com/office/drawing/2014/main" id="{FD90E623-A10A-A3D7-793E-5D9D2745C542}"/>
              </a:ext>
            </a:extLst>
          </p:cNvPr>
          <p:cNvSpPr txBox="1"/>
          <p:nvPr/>
        </p:nvSpPr>
        <p:spPr>
          <a:xfrm>
            <a:off x="3914546" y="3317047"/>
            <a:ext cx="2670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ui-monospace" pitchFamily="34" charset="-120"/>
              </a:rPr>
              <a:t>1</a:t>
            </a:r>
            <a:endParaRPr lang="en-US" sz="15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5" name="Shape 24">
            <a:extLst>
              <a:ext uri="{FF2B5EF4-FFF2-40B4-BE49-F238E27FC236}">
                <a16:creationId xmlns:a16="http://schemas.microsoft.com/office/drawing/2014/main" id="{C5204709-10F8-1196-7F46-747F5E465572}"/>
              </a:ext>
            </a:extLst>
          </p:cNvPr>
          <p:cNvSpPr/>
          <p:nvPr/>
        </p:nvSpPr>
        <p:spPr>
          <a:xfrm>
            <a:off x="4457700" y="3088447"/>
            <a:ext cx="514807" cy="580644"/>
          </a:xfrm>
          <a:prstGeom prst="roundRect">
            <a:avLst>
              <a:gd name="adj" fmla="val 2631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6" name="Text 25">
            <a:extLst>
              <a:ext uri="{FF2B5EF4-FFF2-40B4-BE49-F238E27FC236}">
                <a16:creationId xmlns:a16="http://schemas.microsoft.com/office/drawing/2014/main" id="{31FC6A2B-7AC7-9D1F-86D7-4CF550783434}"/>
              </a:ext>
            </a:extLst>
          </p:cNvPr>
          <p:cNvSpPr txBox="1"/>
          <p:nvPr/>
        </p:nvSpPr>
        <p:spPr>
          <a:xfrm>
            <a:off x="4581144" y="3173486"/>
            <a:ext cx="2670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経度</a:t>
            </a:r>
            <a:endParaRPr lang="en-US" sz="8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7" name="Text 26">
            <a:extLst>
              <a:ext uri="{FF2B5EF4-FFF2-40B4-BE49-F238E27FC236}">
                <a16:creationId xmlns:a16="http://schemas.microsoft.com/office/drawing/2014/main" id="{19FE7132-6A7F-19D9-6E17-E18C6715AB27}"/>
              </a:ext>
            </a:extLst>
          </p:cNvPr>
          <p:cNvSpPr txBox="1"/>
          <p:nvPr/>
        </p:nvSpPr>
        <p:spPr>
          <a:xfrm>
            <a:off x="4581144" y="3317047"/>
            <a:ext cx="2670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ui-monospace" pitchFamily="34" charset="-120"/>
              </a:rPr>
              <a:t>1</a:t>
            </a:r>
            <a:endParaRPr lang="en-US" sz="15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8" name="Text 27">
            <a:extLst>
              <a:ext uri="{FF2B5EF4-FFF2-40B4-BE49-F238E27FC236}">
                <a16:creationId xmlns:a16="http://schemas.microsoft.com/office/drawing/2014/main" id="{B3C1542A-FE0A-EB6F-E59F-058530107BDD}"/>
              </a:ext>
            </a:extLst>
          </p:cNvPr>
          <p:cNvSpPr txBox="1"/>
          <p:nvPr/>
        </p:nvSpPr>
        <p:spPr>
          <a:xfrm>
            <a:off x="3929511" y="3806541"/>
            <a:ext cx="311170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EF4444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 「1」と入力いただければ、事務局にて正しい住所から位置情報を設定します。 </a:t>
            </a:r>
            <a:endParaRPr lang="en-US" sz="9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39" name="Image 9" descr="preencoded.png">
            <a:extLst>
              <a:ext uri="{FF2B5EF4-FFF2-40B4-BE49-F238E27FC236}">
                <a16:creationId xmlns:a16="http://schemas.microsoft.com/office/drawing/2014/main" id="{304FA0DF-8F2C-8128-0E41-8DEF24370AE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791102" y="3807165"/>
            <a:ext cx="114300" cy="114300"/>
          </a:xfrm>
          <a:prstGeom prst="rect">
            <a:avLst/>
          </a:prstGeom>
        </p:spPr>
      </p:pic>
      <p:pic>
        <p:nvPicPr>
          <p:cNvPr id="40" name="Image 10" descr="preencoded.png">
            <a:extLst>
              <a:ext uri="{FF2B5EF4-FFF2-40B4-BE49-F238E27FC236}">
                <a16:creationId xmlns:a16="http://schemas.microsoft.com/office/drawing/2014/main" id="{3692E0AA-3F85-889B-6814-F1C76AEE294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6" r="-6"/>
          <a:stretch/>
        </p:blipFill>
        <p:spPr>
          <a:xfrm>
            <a:off x="7677302" y="1466698"/>
            <a:ext cx="3943807" cy="1257300"/>
          </a:xfrm>
          <a:prstGeom prst="rect">
            <a:avLst/>
          </a:prstGeom>
        </p:spPr>
      </p:pic>
      <p:sp>
        <p:nvSpPr>
          <p:cNvPr id="41" name="Text 28">
            <a:extLst>
              <a:ext uri="{FF2B5EF4-FFF2-40B4-BE49-F238E27FC236}">
                <a16:creationId xmlns:a16="http://schemas.microsoft.com/office/drawing/2014/main" id="{95615778-F15B-D2B6-DA2E-9E9B28E2DDA8}"/>
              </a:ext>
            </a:extLst>
          </p:cNvPr>
          <p:cNvSpPr txBox="1"/>
          <p:nvPr/>
        </p:nvSpPr>
        <p:spPr>
          <a:xfrm>
            <a:off x="8076895" y="1638605"/>
            <a:ext cx="34866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店舗紹介・詳細情報の例　</a:t>
            </a:r>
            <a:r>
              <a:rPr lang="en-US" sz="12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（100〜150文字） </a:t>
            </a:r>
            <a:endParaRPr 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42" name="Image 11" descr="preencoded.png">
            <a:extLst>
              <a:ext uri="{FF2B5EF4-FFF2-40B4-BE49-F238E27FC236}">
                <a16:creationId xmlns:a16="http://schemas.microsoft.com/office/drawing/2014/main" id="{0D670076-86A7-6F8F-F117-8CEE2C9AAEA2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848295" y="1676095"/>
            <a:ext cx="152705" cy="152705"/>
          </a:xfrm>
          <a:prstGeom prst="rect">
            <a:avLst/>
          </a:prstGeom>
        </p:spPr>
      </p:pic>
      <p:sp>
        <p:nvSpPr>
          <p:cNvPr id="43" name="Shape 29">
            <a:extLst>
              <a:ext uri="{FF2B5EF4-FFF2-40B4-BE49-F238E27FC236}">
                <a16:creationId xmlns:a16="http://schemas.microsoft.com/office/drawing/2014/main" id="{8753E40D-542A-E566-85C3-DB24B0E2E8BB}"/>
              </a:ext>
            </a:extLst>
          </p:cNvPr>
          <p:cNvSpPr/>
          <p:nvPr/>
        </p:nvSpPr>
        <p:spPr>
          <a:xfrm>
            <a:off x="7848295" y="1943100"/>
            <a:ext cx="3600907" cy="609905"/>
          </a:xfrm>
          <a:prstGeom prst="roundRect">
            <a:avLst>
              <a:gd name="adj" fmla="val 18741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4" name="Shape 30">
            <a:extLst>
              <a:ext uri="{FF2B5EF4-FFF2-40B4-BE49-F238E27FC236}">
                <a16:creationId xmlns:a16="http://schemas.microsoft.com/office/drawing/2014/main" id="{DDD78BA9-2C62-FD80-8463-85234EA11F52}"/>
              </a:ext>
            </a:extLst>
          </p:cNvPr>
          <p:cNvSpPr/>
          <p:nvPr/>
        </p:nvSpPr>
        <p:spPr>
          <a:xfrm>
            <a:off x="7848295" y="1943100"/>
            <a:ext cx="38405" cy="609905"/>
          </a:xfrm>
          <a:prstGeom prst="roundRect">
            <a:avLst>
              <a:gd name="adj" fmla="val 297617"/>
            </a:avLst>
          </a:prstGeom>
          <a:solidFill>
            <a:srgbClr val="6EE7B7"/>
          </a:solidFill>
          <a:ln w="12700">
            <a:solidFill>
              <a:srgbClr val="6EE7B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3BEF9CA7-7D8C-9C98-86E4-6003D4B6A546}"/>
              </a:ext>
            </a:extLst>
          </p:cNvPr>
          <p:cNvSpPr txBox="1"/>
          <p:nvPr/>
        </p:nvSpPr>
        <p:spPr>
          <a:xfrm>
            <a:off x="8001000" y="2047240"/>
            <a:ext cx="34107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駅徒歩3分の居酒屋です。たまのみでは生ビール1杯無料。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お一人様も歓迎です。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46" name="Image 12" descr="preencoded.png">
            <a:extLst>
              <a:ext uri="{FF2B5EF4-FFF2-40B4-BE49-F238E27FC236}">
                <a16:creationId xmlns:a16="http://schemas.microsoft.com/office/drawing/2014/main" id="{1216DE7A-E73E-CD04-C4B5-53DF1FD42C1D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-8" r="-8"/>
          <a:stretch/>
        </p:blipFill>
        <p:spPr>
          <a:xfrm>
            <a:off x="7677302" y="2876702"/>
            <a:ext cx="3943807" cy="1852575"/>
          </a:xfrm>
          <a:prstGeom prst="rect">
            <a:avLst/>
          </a:prstGeom>
        </p:spPr>
      </p:pic>
      <p:sp>
        <p:nvSpPr>
          <p:cNvPr id="47" name="Text 32">
            <a:extLst>
              <a:ext uri="{FF2B5EF4-FFF2-40B4-BE49-F238E27FC236}">
                <a16:creationId xmlns:a16="http://schemas.microsoft.com/office/drawing/2014/main" id="{5B3AD884-AEAD-1EAE-5B29-64BBCA755A73}"/>
              </a:ext>
            </a:extLst>
          </p:cNvPr>
          <p:cNvSpPr txBox="1"/>
          <p:nvPr/>
        </p:nvSpPr>
        <p:spPr>
          <a:xfrm>
            <a:off x="8076895" y="3047695"/>
            <a:ext cx="35625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店舗</a:t>
            </a:r>
            <a:r>
              <a:rPr lang="en-US" sz="12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画像</a:t>
            </a:r>
            <a:r>
              <a:rPr lang="ja-JP" altLang="en-US" sz="12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の例　（最大</a:t>
            </a:r>
            <a:r>
              <a:rPr lang="en-US" altLang="ja-JP" sz="12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3</a:t>
            </a:r>
            <a:r>
              <a:rPr lang="ja-JP" altLang="en-US" sz="12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枚）</a:t>
            </a:r>
            <a:endParaRPr 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48" name="Image 13" descr="preencoded.png">
            <a:extLst>
              <a:ext uri="{FF2B5EF4-FFF2-40B4-BE49-F238E27FC236}">
                <a16:creationId xmlns:a16="http://schemas.microsoft.com/office/drawing/2014/main" id="{D9047C7D-D498-2753-E4A6-C99DA196425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848295" y="3086100"/>
            <a:ext cx="152705" cy="152705"/>
          </a:xfrm>
          <a:prstGeom prst="rect">
            <a:avLst/>
          </a:prstGeom>
        </p:spPr>
      </p:pic>
      <p:sp>
        <p:nvSpPr>
          <p:cNvPr id="49" name="Shape 33">
            <a:extLst>
              <a:ext uri="{FF2B5EF4-FFF2-40B4-BE49-F238E27FC236}">
                <a16:creationId xmlns:a16="http://schemas.microsoft.com/office/drawing/2014/main" id="{990DF6AE-05C5-3D81-3335-CAC88AEA3473}"/>
              </a:ext>
            </a:extLst>
          </p:cNvPr>
          <p:cNvSpPr/>
          <p:nvPr/>
        </p:nvSpPr>
        <p:spPr>
          <a:xfrm>
            <a:off x="7848295" y="3390595"/>
            <a:ext cx="1152144" cy="543154"/>
          </a:xfrm>
          <a:prstGeom prst="roundRect">
            <a:avLst>
              <a:gd name="adj" fmla="val 23628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0" name="Image 14" descr="preencoded.png">
            <a:extLst>
              <a:ext uri="{FF2B5EF4-FFF2-40B4-BE49-F238E27FC236}">
                <a16:creationId xmlns:a16="http://schemas.microsoft.com/office/drawing/2014/main" id="{6A00731E-A7C6-339F-297C-965B61478899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-43" b="-43"/>
          <a:stretch/>
        </p:blipFill>
        <p:spPr>
          <a:xfrm>
            <a:off x="8356702" y="3486607"/>
            <a:ext cx="133502" cy="152705"/>
          </a:xfrm>
          <a:prstGeom prst="rect">
            <a:avLst/>
          </a:prstGeom>
        </p:spPr>
      </p:pic>
      <p:sp>
        <p:nvSpPr>
          <p:cNvPr id="51" name="Text 34">
            <a:extLst>
              <a:ext uri="{FF2B5EF4-FFF2-40B4-BE49-F238E27FC236}">
                <a16:creationId xmlns:a16="http://schemas.microsoft.com/office/drawing/2014/main" id="{3F9BD874-1921-A40F-C0A8-5A81BE1105B4}"/>
              </a:ext>
            </a:extLst>
          </p:cNvPr>
          <p:cNvSpPr txBox="1"/>
          <p:nvPr/>
        </p:nvSpPr>
        <p:spPr>
          <a:xfrm>
            <a:off x="7894930" y="3705149"/>
            <a:ext cx="105979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料理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2" name="Shape 35">
            <a:extLst>
              <a:ext uri="{FF2B5EF4-FFF2-40B4-BE49-F238E27FC236}">
                <a16:creationId xmlns:a16="http://schemas.microsoft.com/office/drawing/2014/main" id="{FC480C55-1198-F740-A7B2-0D6498611A77}"/>
              </a:ext>
            </a:extLst>
          </p:cNvPr>
          <p:cNvSpPr/>
          <p:nvPr/>
        </p:nvSpPr>
        <p:spPr>
          <a:xfrm>
            <a:off x="9074506" y="3390595"/>
            <a:ext cx="1152144" cy="543154"/>
          </a:xfrm>
          <a:prstGeom prst="roundRect">
            <a:avLst>
              <a:gd name="adj" fmla="val 23628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3" name="Image 15" descr="preencoded.png">
            <a:extLst>
              <a:ext uri="{FF2B5EF4-FFF2-40B4-BE49-F238E27FC236}">
                <a16:creationId xmlns:a16="http://schemas.microsoft.com/office/drawing/2014/main" id="{6271A3C3-D67A-76E8-FAFE-0944643F8AAE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-180" b="-180"/>
          <a:stretch/>
        </p:blipFill>
        <p:spPr>
          <a:xfrm>
            <a:off x="9553651" y="3486607"/>
            <a:ext cx="190195" cy="152705"/>
          </a:xfrm>
          <a:prstGeom prst="rect">
            <a:avLst/>
          </a:prstGeom>
        </p:spPr>
      </p:pic>
      <p:sp>
        <p:nvSpPr>
          <p:cNvPr id="54" name="Text 36">
            <a:extLst>
              <a:ext uri="{FF2B5EF4-FFF2-40B4-BE49-F238E27FC236}">
                <a16:creationId xmlns:a16="http://schemas.microsoft.com/office/drawing/2014/main" id="{E2E85993-E6DA-2005-3602-61020E16301E}"/>
              </a:ext>
            </a:extLst>
          </p:cNvPr>
          <p:cNvSpPr txBox="1"/>
          <p:nvPr/>
        </p:nvSpPr>
        <p:spPr>
          <a:xfrm>
            <a:off x="9120226" y="3705149"/>
            <a:ext cx="105979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店内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5" name="Shape 37">
            <a:extLst>
              <a:ext uri="{FF2B5EF4-FFF2-40B4-BE49-F238E27FC236}">
                <a16:creationId xmlns:a16="http://schemas.microsoft.com/office/drawing/2014/main" id="{66AAB893-481E-4F91-36A4-46BF538BAD0A}"/>
              </a:ext>
            </a:extLst>
          </p:cNvPr>
          <p:cNvSpPr/>
          <p:nvPr/>
        </p:nvSpPr>
        <p:spPr>
          <a:xfrm>
            <a:off x="10299802" y="3390595"/>
            <a:ext cx="1152144" cy="543154"/>
          </a:xfrm>
          <a:prstGeom prst="roundRect">
            <a:avLst>
              <a:gd name="adj" fmla="val 23628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6" name="Image 16" descr="preencoded.png">
            <a:extLst>
              <a:ext uri="{FF2B5EF4-FFF2-40B4-BE49-F238E27FC236}">
                <a16:creationId xmlns:a16="http://schemas.microsoft.com/office/drawing/2014/main" id="{6B42AD98-4F26-A182-07F9-CC45CDEB2C91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t="-100" b="-100"/>
          <a:stretch/>
        </p:blipFill>
        <p:spPr>
          <a:xfrm>
            <a:off x="10817352" y="3486607"/>
            <a:ext cx="114300" cy="152705"/>
          </a:xfrm>
          <a:prstGeom prst="rect">
            <a:avLst/>
          </a:prstGeom>
        </p:spPr>
      </p:pic>
      <p:sp>
        <p:nvSpPr>
          <p:cNvPr id="57" name="Text 38">
            <a:extLst>
              <a:ext uri="{FF2B5EF4-FFF2-40B4-BE49-F238E27FC236}">
                <a16:creationId xmlns:a16="http://schemas.microsoft.com/office/drawing/2014/main" id="{7796AC93-907B-70C6-81F2-5C64C3ED118E}"/>
              </a:ext>
            </a:extLst>
          </p:cNvPr>
          <p:cNvSpPr txBox="1"/>
          <p:nvPr/>
        </p:nvSpPr>
        <p:spPr>
          <a:xfrm>
            <a:off x="10346436" y="3705149"/>
            <a:ext cx="105979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外観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8" name="Shape 39">
            <a:extLst>
              <a:ext uri="{FF2B5EF4-FFF2-40B4-BE49-F238E27FC236}">
                <a16:creationId xmlns:a16="http://schemas.microsoft.com/office/drawing/2014/main" id="{E997D1AC-9EEE-945B-AB58-20595FBEC9B7}"/>
              </a:ext>
            </a:extLst>
          </p:cNvPr>
          <p:cNvSpPr/>
          <p:nvPr/>
        </p:nvSpPr>
        <p:spPr>
          <a:xfrm>
            <a:off x="7848295" y="4048049"/>
            <a:ext cx="3600907" cy="552297"/>
          </a:xfrm>
          <a:prstGeom prst="roundRect">
            <a:avLst>
              <a:gd name="adj" fmla="val 75075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60" name="Image 17" descr="preencoded.png">
            <a:extLst>
              <a:ext uri="{FF2B5EF4-FFF2-40B4-BE49-F238E27FC236}">
                <a16:creationId xmlns:a16="http://schemas.microsoft.com/office/drawing/2014/main" id="{2FEBB6AD-FADD-6306-AF76-F9F8AEBE6E04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-2571" r="-2571"/>
          <a:stretch/>
        </p:blipFill>
        <p:spPr>
          <a:xfrm>
            <a:off x="7993075" y="4198518"/>
            <a:ext cx="105156" cy="114300"/>
          </a:xfrm>
          <a:prstGeom prst="rect">
            <a:avLst/>
          </a:prstGeom>
        </p:spPr>
      </p:pic>
      <p:sp>
        <p:nvSpPr>
          <p:cNvPr id="61" name="Text 41">
            <a:extLst>
              <a:ext uri="{FF2B5EF4-FFF2-40B4-BE49-F238E27FC236}">
                <a16:creationId xmlns:a16="http://schemas.microsoft.com/office/drawing/2014/main" id="{D66C239E-11F0-81F6-05D2-C08CED4C7B83}"/>
              </a:ext>
            </a:extLst>
          </p:cNvPr>
          <p:cNvSpPr txBox="1"/>
          <p:nvPr/>
        </p:nvSpPr>
        <p:spPr>
          <a:xfrm>
            <a:off x="8188950" y="4126484"/>
            <a:ext cx="3217276" cy="398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sz="800" b="0" i="0" dirty="0"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画像形式：</a:t>
            </a:r>
            <a:r>
              <a:rPr lang="en-US" altLang="ja-JP" sz="800" b="0" i="0" dirty="0"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JPEG</a:t>
            </a:r>
            <a:r>
              <a:rPr lang="ja-JP" altLang="en-US" sz="800" b="0" i="0" dirty="0"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</a:t>
            </a:r>
            <a:r>
              <a:rPr lang="en-US" altLang="ja-JP" sz="800" b="0" i="0" dirty="0"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PNG</a:t>
            </a:r>
            <a:r>
              <a:rPr lang="ja-JP" altLang="en-US" sz="800" b="0" i="0" dirty="0"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</a:t>
            </a:r>
            <a:r>
              <a:rPr lang="en-US" altLang="ja-JP" sz="800" b="0" i="0" dirty="0"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WebP</a:t>
            </a:r>
            <a:r>
              <a:rPr lang="ja-JP" altLang="en-US" sz="800" b="0" i="0" dirty="0"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（推奨サイズ：</a:t>
            </a:r>
            <a:r>
              <a:rPr lang="en-US" altLang="ja-JP" sz="800" b="0" i="0" dirty="0"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1200x400px</a:t>
            </a:r>
            <a:r>
              <a:rPr lang="ja-JP" altLang="en-US" sz="800" b="0" i="0" dirty="0"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以上、</a:t>
            </a:r>
            <a:endParaRPr lang="en-US" altLang="ja-JP" sz="800" b="0" i="0" dirty="0"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ja-JP" altLang="en-US" sz="800" b="0" i="0" dirty="0"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推奨アスペクト比：</a:t>
            </a:r>
            <a:r>
              <a:rPr lang="en-US" altLang="ja-JP" sz="800" b="0" i="0" dirty="0"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4:3</a:t>
            </a:r>
            <a:r>
              <a:rPr lang="ja-JP" altLang="en-US" sz="800" b="0" i="0" dirty="0"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または</a:t>
            </a:r>
            <a:r>
              <a:rPr lang="en-US" altLang="ja-JP" sz="800" b="0" i="0" dirty="0"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16:9</a:t>
            </a:r>
            <a:r>
              <a:rPr lang="ja-JP" altLang="en-US" sz="800" b="0" i="0" dirty="0"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）</a:t>
            </a:r>
            <a:endParaRPr lang="en-US" sz="8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63" name="Image 19" descr="preencoded.png">
            <a:extLst>
              <a:ext uri="{FF2B5EF4-FFF2-40B4-BE49-F238E27FC236}">
                <a16:creationId xmlns:a16="http://schemas.microsoft.com/office/drawing/2014/main" id="{75DAEF46-D07C-5119-FCB8-9A3B61FAEC65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-1" b="-1"/>
          <a:stretch/>
        </p:blipFill>
        <p:spPr>
          <a:xfrm>
            <a:off x="3429000" y="4981650"/>
            <a:ext cx="8192109" cy="1556309"/>
          </a:xfrm>
          <a:prstGeom prst="rect">
            <a:avLst/>
          </a:prstGeom>
        </p:spPr>
      </p:pic>
      <p:sp>
        <p:nvSpPr>
          <p:cNvPr id="64" name="Text 42">
            <a:extLst>
              <a:ext uri="{FF2B5EF4-FFF2-40B4-BE49-F238E27FC236}">
                <a16:creationId xmlns:a16="http://schemas.microsoft.com/office/drawing/2014/main" id="{0BE0E04F-FB61-B3C6-A366-908A6A6A4EAF}"/>
              </a:ext>
            </a:extLst>
          </p:cNvPr>
          <p:cNvSpPr txBox="1"/>
          <p:nvPr/>
        </p:nvSpPr>
        <p:spPr>
          <a:xfrm>
            <a:off x="3896258" y="5163632"/>
            <a:ext cx="35625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その他</a:t>
            </a:r>
            <a:r>
              <a:rPr lang="ja-JP" altLang="en-US" sz="12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の留意点</a:t>
            </a:r>
            <a:r>
              <a:rPr lang="en-US" sz="12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 </a:t>
            </a:r>
            <a:endParaRPr 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65" name="Image 20" descr="preencoded.png">
            <a:extLst>
              <a:ext uri="{FF2B5EF4-FFF2-40B4-BE49-F238E27FC236}">
                <a16:creationId xmlns:a16="http://schemas.microsoft.com/office/drawing/2014/main" id="{8E77F2AB-949E-DB9D-D2B9-5A75660C95E3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3667658" y="5201123"/>
            <a:ext cx="152705" cy="152705"/>
          </a:xfrm>
          <a:prstGeom prst="rect">
            <a:avLst/>
          </a:prstGeom>
        </p:spPr>
      </p:pic>
      <p:sp>
        <p:nvSpPr>
          <p:cNvPr id="66" name="Text 43">
            <a:extLst>
              <a:ext uri="{FF2B5EF4-FFF2-40B4-BE49-F238E27FC236}">
                <a16:creationId xmlns:a16="http://schemas.microsoft.com/office/drawing/2014/main" id="{CEE163D7-EAB2-BA2D-FC1C-EAFA42883C1E}"/>
              </a:ext>
            </a:extLst>
          </p:cNvPr>
          <p:cNvSpPr txBox="1"/>
          <p:nvPr/>
        </p:nvSpPr>
        <p:spPr>
          <a:xfrm>
            <a:off x="3791102" y="5444345"/>
            <a:ext cx="7620610" cy="870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 </a:t>
            </a:r>
            <a:r>
              <a:rPr lang="en-US" sz="1000" dirty="0" err="1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営業時間・予算などは入力例に従ってください</a:t>
            </a:r>
            <a:endParaRPr lang="en-US" sz="1000" dirty="0">
              <a:solidFill>
                <a:srgbClr val="4B5563"/>
              </a:solidFill>
              <a:latin typeface="BIZ UDPゴシック" panose="020B0400000000000000" pitchFamily="50" charset="-128"/>
              <a:ea typeface="BIZ UDPゴシック" panose="020B0400000000000000" pitchFamily="50" charset="-128"/>
              <a:cs typeface="Zen Maru Gothic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ja-JP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【</a:t>
            </a:r>
            <a:r>
              <a:rPr lang="ja-JP" altLang="en-US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クーポン利用時間</a:t>
            </a:r>
            <a:r>
              <a:rPr lang="en-US" altLang="ja-JP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】 クーポン利用時間が営業時間と異なる場合は、別途設定してください</a:t>
            </a:r>
            <a:r>
              <a:rPr lang="ja-JP" altLang="en-US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。</a:t>
            </a:r>
            <a:endParaRPr lang="en-US" altLang="ja-JP" sz="1000" dirty="0">
              <a:solidFill>
                <a:srgbClr val="4B5563"/>
              </a:solidFill>
              <a:latin typeface="BIZ UDPゴシック" panose="020B0400000000000000" pitchFamily="50" charset="-128"/>
              <a:ea typeface="BIZ UDPゴシック" panose="020B0400000000000000" pitchFamily="50" charset="-128"/>
              <a:cs typeface="Zen Maru Gothic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ja-JP" sz="1000" dirty="0">
                <a:solidFill>
                  <a:srgbClr val="646976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【</a:t>
            </a:r>
            <a:r>
              <a:rPr lang="ja-JP" altLang="en-US" sz="1000" dirty="0">
                <a:solidFill>
                  <a:srgbClr val="646976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アカウント発行</a:t>
            </a:r>
            <a:r>
              <a:rPr lang="en-US" altLang="ja-JP" sz="1000" dirty="0">
                <a:solidFill>
                  <a:srgbClr val="646976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】 </a:t>
            </a:r>
            <a:r>
              <a:rPr lang="ja-JP" altLang="en-US" sz="1000" dirty="0">
                <a:solidFill>
                  <a:srgbClr val="646976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追加で各店舗ごとの管理アカウントを発行したい場合に、チェックしてください。</a:t>
            </a:r>
            <a:endParaRPr lang="en-US" altLang="ja-JP" sz="1000" dirty="0">
              <a:solidFill>
                <a:srgbClr val="646976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000" dirty="0">
                <a:solidFill>
                  <a:srgbClr val="646976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　　 　　　 例） 全体の管理者に加えて、各店舗の店長用にアカウント発行</a:t>
            </a:r>
            <a:endParaRPr lang="en-US" altLang="ja-JP" sz="1000" dirty="0">
              <a:solidFill>
                <a:srgbClr val="646976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 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67" name="Image 21" descr="preencoded.png">
            <a:extLst>
              <a:ext uri="{FF2B5EF4-FFF2-40B4-BE49-F238E27FC236}">
                <a16:creationId xmlns:a16="http://schemas.microsoft.com/office/drawing/2014/main" id="{A60B7434-88F1-6700-2601-20BD5EC53DF5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l="-400" r="-400"/>
          <a:stretch/>
        </p:blipFill>
        <p:spPr>
          <a:xfrm>
            <a:off x="3667658" y="5507650"/>
            <a:ext cx="57607" cy="114300"/>
          </a:xfrm>
          <a:prstGeom prst="rect">
            <a:avLst/>
          </a:prstGeom>
        </p:spPr>
      </p:pic>
      <p:pic>
        <p:nvPicPr>
          <p:cNvPr id="69" name="Image 22" descr="preencoded.png">
            <a:extLst>
              <a:ext uri="{FF2B5EF4-FFF2-40B4-BE49-F238E27FC236}">
                <a16:creationId xmlns:a16="http://schemas.microsoft.com/office/drawing/2014/main" id="{8E8635D3-964C-3947-E308-F85597BA539F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l="-400" r="-400"/>
          <a:stretch/>
        </p:blipFill>
        <p:spPr>
          <a:xfrm>
            <a:off x="3667658" y="5741330"/>
            <a:ext cx="57607" cy="114300"/>
          </a:xfrm>
          <a:prstGeom prst="rect">
            <a:avLst/>
          </a:prstGeom>
        </p:spPr>
      </p:pic>
      <p:pic>
        <p:nvPicPr>
          <p:cNvPr id="22" name="Image 22" descr="preencoded.png">
            <a:extLst>
              <a:ext uri="{FF2B5EF4-FFF2-40B4-BE49-F238E27FC236}">
                <a16:creationId xmlns:a16="http://schemas.microsoft.com/office/drawing/2014/main" id="{820AD7A0-DEF9-5F50-7B7E-C771A5FFC56B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l="-400" r="-400"/>
          <a:stretch/>
        </p:blipFill>
        <p:spPr>
          <a:xfrm>
            <a:off x="3666286" y="5970683"/>
            <a:ext cx="57607" cy="11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239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857500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-381305" y="-381305"/>
            <a:ext cx="2438705" cy="2438705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257300" y="4876495"/>
            <a:ext cx="1218895" cy="1218895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27583" y="1729538"/>
            <a:ext cx="7342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80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STEP</a:t>
            </a:r>
            <a:endParaRPr lang="en-US" sz="1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89789" y="1965961"/>
            <a:ext cx="150693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FFFFFF">
                    <a:alpha val="90000"/>
                  </a:srgb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05</a:t>
            </a:r>
            <a:endParaRPr lang="en-US" sz="6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91617" y="3290926"/>
            <a:ext cx="1676095" cy="409651"/>
          </a:xfrm>
          <a:prstGeom prst="roundRect">
            <a:avLst>
              <a:gd name="adj" fmla="val 22321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048817" y="3366821"/>
            <a:ext cx="108905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B98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所要時間 3分</a:t>
            </a:r>
            <a:endParaRPr lang="en-US" sz="13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760" r="-760"/>
          <a:stretch/>
        </p:blipFill>
        <p:spPr>
          <a:xfrm>
            <a:off x="820217" y="3417113"/>
            <a:ext cx="152705" cy="171907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rcRect l="-347" r="-347"/>
          <a:stretch/>
        </p:blipFill>
        <p:spPr>
          <a:xfrm>
            <a:off x="1104595" y="4157777"/>
            <a:ext cx="647395" cy="5715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11987" y="4881982"/>
            <a:ext cx="123444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クーポン登録</a:t>
            </a:r>
            <a:endParaRPr lang="en-US" sz="15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2857500" y="0"/>
            <a:ext cx="93341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3429000" y="1219810"/>
            <a:ext cx="8191195" cy="1920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Text 11"/>
          <p:cNvSpPr txBox="1"/>
          <p:nvPr/>
        </p:nvSpPr>
        <p:spPr>
          <a:xfrm>
            <a:off x="3429000" y="381305"/>
            <a:ext cx="84966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クーポン情報の登録</a:t>
            </a:r>
            <a:endParaRPr lang="en-US" sz="27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3429000" y="838505"/>
            <a:ext cx="8382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来店のきっかけとなる特典を設定しましょう。</a:t>
            </a:r>
            <a:endParaRPr 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3429000" y="1466697"/>
            <a:ext cx="3943807" cy="1065840"/>
          </a:xfrm>
          <a:prstGeom prst="roundRect">
            <a:avLst>
              <a:gd name="adj" fmla="val 94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8" name="Text 14"/>
          <p:cNvSpPr txBox="1"/>
          <p:nvPr/>
        </p:nvSpPr>
        <p:spPr>
          <a:xfrm>
            <a:off x="3666744" y="1543943"/>
            <a:ext cx="3657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1</a:t>
            </a:r>
            <a:r>
              <a:rPr lang="en-US" sz="1300" b="1" dirty="0">
                <a:solidFill>
                  <a:srgbClr val="04785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 操作手順 </a:t>
            </a:r>
            <a:endParaRPr lang="en-US" sz="13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t="-9" b="-9"/>
          <a:stretch/>
        </p:blipFill>
        <p:spPr>
          <a:xfrm>
            <a:off x="3666744" y="1829511"/>
            <a:ext cx="3467405" cy="59070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943807" y="1991360"/>
            <a:ext cx="32196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クーポン管理</a:t>
            </a:r>
            <a:r>
              <a:rPr lang="ja-JP" altLang="en-US" sz="1200" b="1" dirty="0">
                <a:solidFill>
                  <a:srgbClr val="37415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　　　</a:t>
            </a:r>
            <a:r>
              <a:rPr lang="ja-JP" altLang="en-US" sz="1200" b="1" dirty="0">
                <a:solidFill>
                  <a:srgbClr val="369579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＋</a:t>
            </a:r>
            <a:r>
              <a:rPr lang="en-US" sz="1200" b="1" dirty="0">
                <a:solidFill>
                  <a:srgbClr val="059669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新規作成</a:t>
            </a:r>
            <a:endParaRPr 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4946916" y="2072117"/>
            <a:ext cx="95098" cy="152705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7677302" y="4771707"/>
            <a:ext cx="3943807" cy="1956716"/>
          </a:xfrm>
          <a:prstGeom prst="roundRect">
            <a:avLst>
              <a:gd name="adj" fmla="val 836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Text 17"/>
          <p:cNvSpPr txBox="1"/>
          <p:nvPr/>
        </p:nvSpPr>
        <p:spPr>
          <a:xfrm>
            <a:off x="8125358" y="4900841"/>
            <a:ext cx="34866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40A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仕様・ポイント </a:t>
            </a:r>
            <a:endParaRPr lang="en-US" sz="13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877556" y="4948390"/>
            <a:ext cx="171907" cy="171907"/>
          </a:xfrm>
          <a:prstGeom prst="rect">
            <a:avLst/>
          </a:prstGeom>
        </p:spPr>
      </p:pic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44C25FE4-F59B-762E-7456-6D322EAA83C2}"/>
              </a:ext>
            </a:extLst>
          </p:cNvPr>
          <p:cNvGrpSpPr/>
          <p:nvPr/>
        </p:nvGrpSpPr>
        <p:grpSpPr>
          <a:xfrm>
            <a:off x="7877556" y="5261825"/>
            <a:ext cx="3267151" cy="1209751"/>
            <a:chOff x="3629254" y="3762756"/>
            <a:chExt cx="3267151" cy="800100"/>
          </a:xfrm>
        </p:grpSpPr>
        <p:pic>
          <p:nvPicPr>
            <p:cNvPr id="25" name="Image 5" descr="preencoded.png"/>
            <p:cNvPicPr>
              <a:picLocks noChangeAspect="1"/>
            </p:cNvPicPr>
            <p:nvPr/>
          </p:nvPicPr>
          <p:blipFill>
            <a:blip r:embed="rId8"/>
            <a:srcRect t="-43" b="-43"/>
            <a:stretch/>
          </p:blipFill>
          <p:spPr>
            <a:xfrm>
              <a:off x="3629254" y="3800246"/>
              <a:ext cx="133502" cy="152705"/>
            </a:xfrm>
            <a:prstGeom prst="rect">
              <a:avLst/>
            </a:prstGeom>
          </p:spPr>
        </p:pic>
        <p:sp>
          <p:nvSpPr>
            <p:cNvPr id="26" name="Text 18"/>
            <p:cNvSpPr txBox="1"/>
            <p:nvPr/>
          </p:nvSpPr>
          <p:spPr>
            <a:xfrm>
              <a:off x="3838651" y="3762756"/>
              <a:ext cx="2479853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37415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Zen Maru Gothic" pitchFamily="34" charset="-120"/>
                </a:rPr>
                <a:t>最大3種類まで登録可能</a:t>
              </a:r>
              <a:endParaRPr 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27" name="Text 19"/>
            <p:cNvSpPr txBox="1"/>
            <p:nvPr/>
          </p:nvSpPr>
          <p:spPr>
            <a:xfrm>
              <a:off x="3838651" y="3952951"/>
              <a:ext cx="2479853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B7280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Zen Maru Gothic" pitchFamily="34" charset="-120"/>
                </a:rPr>
                <a:t>シーンに合わせて複数の特典を用意できます</a:t>
              </a:r>
              <a:endParaRPr 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pic>
          <p:nvPicPr>
            <p:cNvPr id="28" name="Image 6" descr="preencoded.png"/>
            <p:cNvPicPr>
              <a:picLocks noChangeAspect="1"/>
            </p:cNvPicPr>
            <p:nvPr/>
          </p:nvPicPr>
          <p:blipFill>
            <a:blip r:embed="rId8"/>
            <a:srcRect t="-43" b="-43"/>
            <a:stretch/>
          </p:blipFill>
          <p:spPr>
            <a:xfrm>
              <a:off x="3629254" y="4257446"/>
              <a:ext cx="133502" cy="152705"/>
            </a:xfrm>
            <a:prstGeom prst="rect">
              <a:avLst/>
            </a:prstGeom>
          </p:spPr>
        </p:pic>
        <p:sp>
          <p:nvSpPr>
            <p:cNvPr id="29" name="Text 20"/>
            <p:cNvSpPr txBox="1"/>
            <p:nvPr/>
          </p:nvSpPr>
          <p:spPr>
            <a:xfrm>
              <a:off x="3838651" y="4219956"/>
              <a:ext cx="3057754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37415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Zen Maru Gothic" pitchFamily="34" charset="-120"/>
                </a:rPr>
                <a:t>画像はなくてもOK</a:t>
              </a:r>
              <a:endParaRPr 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30" name="Text 21"/>
            <p:cNvSpPr txBox="1"/>
            <p:nvPr/>
          </p:nvSpPr>
          <p:spPr>
            <a:xfrm>
              <a:off x="3838651" y="4410151"/>
              <a:ext cx="3057754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B7280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  <a:cs typeface="Zen Maru Gothic" pitchFamily="34" charset="-120"/>
                </a:rPr>
                <a:t>未登録の場合は、自動的に「汎用画像」が表示されます</a:t>
              </a:r>
              <a:endParaRPr 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9"/>
          <a:srcRect l="-7" r="-7"/>
          <a:stretch/>
        </p:blipFill>
        <p:spPr>
          <a:xfrm>
            <a:off x="7677302" y="1466698"/>
            <a:ext cx="3943807" cy="3224175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7925105" y="1950140"/>
            <a:ext cx="3448202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3" name="Text 23"/>
          <p:cNvSpPr txBox="1"/>
          <p:nvPr/>
        </p:nvSpPr>
        <p:spPr>
          <a:xfrm>
            <a:off x="8172907" y="1607240"/>
            <a:ext cx="3391510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 設定例 </a:t>
            </a:r>
            <a:endParaRPr lang="en-US" sz="13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925105" y="1654789"/>
            <a:ext cx="171907" cy="171907"/>
          </a:xfrm>
          <a:prstGeom prst="rect">
            <a:avLst/>
          </a:prstGeom>
        </p:spPr>
      </p:pic>
      <p:sp>
        <p:nvSpPr>
          <p:cNvPr id="35" name="Shape 24"/>
          <p:cNvSpPr/>
          <p:nvPr/>
        </p:nvSpPr>
        <p:spPr>
          <a:xfrm>
            <a:off x="7925105" y="2111989"/>
            <a:ext cx="3448202" cy="612008"/>
          </a:xfrm>
          <a:prstGeom prst="roundRect">
            <a:avLst>
              <a:gd name="adj" fmla="val 21769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6" name="Text 25"/>
          <p:cNvSpPr txBox="1"/>
          <p:nvPr/>
        </p:nvSpPr>
        <p:spPr>
          <a:xfrm>
            <a:off x="8076895" y="2125797"/>
            <a:ext cx="33339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クーポン名</a:t>
            </a:r>
            <a:endParaRPr lang="en-US" sz="9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7" name="Shape 26"/>
          <p:cNvSpPr/>
          <p:nvPr/>
        </p:nvSpPr>
        <p:spPr>
          <a:xfrm>
            <a:off x="8076894" y="2601284"/>
            <a:ext cx="2735885" cy="45719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8" name="Text 27"/>
          <p:cNvSpPr txBox="1"/>
          <p:nvPr/>
        </p:nvSpPr>
        <p:spPr>
          <a:xfrm>
            <a:off x="8076895" y="2377156"/>
            <a:ext cx="3363164" cy="1753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生ビール1杯無料</a:t>
            </a:r>
            <a:r>
              <a:rPr lang="ja-JP" altLang="en-US" sz="13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、ハイボール</a:t>
            </a:r>
            <a:r>
              <a:rPr lang="en-US" altLang="ja-JP" sz="13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13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杯無料</a:t>
            </a:r>
            <a:endParaRPr lang="en-US" sz="13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9" name="Text 28"/>
          <p:cNvSpPr txBox="1"/>
          <p:nvPr/>
        </p:nvSpPr>
        <p:spPr>
          <a:xfrm>
            <a:off x="7925105" y="2834457"/>
            <a:ext cx="36393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説明文</a:t>
            </a:r>
            <a:endParaRPr lang="en-US" sz="9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0" name="Shape 29"/>
          <p:cNvSpPr/>
          <p:nvPr/>
        </p:nvSpPr>
        <p:spPr>
          <a:xfrm>
            <a:off x="7925105" y="3024652"/>
            <a:ext cx="3448202" cy="609905"/>
          </a:xfrm>
          <a:prstGeom prst="roundRect">
            <a:avLst>
              <a:gd name="adj" fmla="val 18741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1" name="Text 30"/>
          <p:cNvSpPr txBox="1"/>
          <p:nvPr/>
        </p:nvSpPr>
        <p:spPr>
          <a:xfrm>
            <a:off x="8039405" y="3138952"/>
            <a:ext cx="32964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クーポン提示で生ビール（中ジョッキ）1杯を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無料で提供いたします。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2" name="Text 31"/>
          <p:cNvSpPr txBox="1"/>
          <p:nvPr/>
        </p:nvSpPr>
        <p:spPr>
          <a:xfrm>
            <a:off x="7925105" y="3766027"/>
            <a:ext cx="36393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利用条件</a:t>
            </a:r>
            <a:endParaRPr lang="en-US" sz="9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3" name="Shape 32"/>
          <p:cNvSpPr/>
          <p:nvPr/>
        </p:nvSpPr>
        <p:spPr>
          <a:xfrm>
            <a:off x="7925105" y="3957138"/>
            <a:ext cx="3448202" cy="572442"/>
          </a:xfrm>
          <a:prstGeom prst="roundRect">
            <a:avLst>
              <a:gd name="adj" fmla="val 73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4" name="Text 33"/>
          <p:cNvSpPr txBox="1"/>
          <p:nvPr/>
        </p:nvSpPr>
        <p:spPr>
          <a:xfrm>
            <a:off x="8048549" y="4016535"/>
            <a:ext cx="3391510" cy="559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料理1品以上をご注文の方</a:t>
            </a:r>
          </a:p>
          <a:p>
            <a:pPr>
              <a:lnSpc>
                <a:spcPct val="150000"/>
              </a:lnSpc>
            </a:pPr>
            <a:r>
              <a:rPr lang="en-US" altLang="ja-JP" sz="1000" dirty="0">
                <a:solidFill>
                  <a:srgbClr val="37415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他クーポンとの併用不可</a:t>
            </a:r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49" name="図 48" descr="The image shows a document with a Japanese language interface, likely a form for managing coupons, with sections for entering store and coupon details, and a message indicating no coupons were found.&#10;&#10;AI 生成コンテンツは誤りを含む可能性があります。">
            <a:extLst>
              <a:ext uri="{FF2B5EF4-FFF2-40B4-BE49-F238E27FC236}">
                <a16:creationId xmlns:a16="http://schemas.microsoft.com/office/drawing/2014/main" id="{9CA222E9-C99C-9D4F-94C2-A80598D2D211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5053" t="31094" r="16019" b="15679"/>
          <a:stretch>
            <a:fillRect/>
          </a:stretch>
        </p:blipFill>
        <p:spPr>
          <a:xfrm>
            <a:off x="3428542" y="2706368"/>
            <a:ext cx="3943807" cy="190337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499578C7-13D2-67FA-D9EB-B75FFDDE9AD8}"/>
              </a:ext>
            </a:extLst>
          </p:cNvPr>
          <p:cNvSpPr txBox="1"/>
          <p:nvPr/>
        </p:nvSpPr>
        <p:spPr>
          <a:xfrm>
            <a:off x="3355085" y="4803736"/>
            <a:ext cx="4017722" cy="876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1200" dirty="0">
                <a:solidFill>
                  <a:srgbClr val="646976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「クーポン管理」内の「新規作成」より、クーポン情報を登録してください。 最大</a:t>
            </a:r>
            <a:r>
              <a:rPr lang="en-US" altLang="ja-JP" sz="1200" dirty="0">
                <a:solidFill>
                  <a:srgbClr val="646976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lang="ja-JP" altLang="en-US" sz="1200" dirty="0">
                <a:solidFill>
                  <a:srgbClr val="646976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種類までクーポンを登録することができます。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71500" y="991210"/>
            <a:ext cx="11048695" cy="1920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381305"/>
            <a:ext cx="457200" cy="4572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16600" b="-16600"/>
          <a:stretch/>
        </p:blipFill>
        <p:spPr>
          <a:xfrm>
            <a:off x="685800" y="457200"/>
            <a:ext cx="228600" cy="30449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81405" y="418795"/>
            <a:ext cx="466252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掲載開始とよくある質問</a:t>
            </a:r>
            <a:endParaRPr lang="en-US" sz="27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 t="-48" b="-48"/>
          <a:stretch/>
        </p:blipFill>
        <p:spPr>
          <a:xfrm>
            <a:off x="571500" y="1238098"/>
            <a:ext cx="4412894" cy="514807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2311603" y="1352398"/>
            <a:ext cx="2756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F46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掲載までの流れ</a:t>
            </a:r>
            <a:endParaRPr lang="en-US" sz="13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rcRect t="-842" b="-842"/>
          <a:stretch/>
        </p:blipFill>
        <p:spPr>
          <a:xfrm>
            <a:off x="2044598" y="1411834"/>
            <a:ext cx="190195" cy="171907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71500" y="1752905"/>
            <a:ext cx="4412894" cy="3962095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8"/>
          <a:srcRect t="-44" b="-44"/>
          <a:stretch/>
        </p:blipFill>
        <p:spPr>
          <a:xfrm>
            <a:off x="5441594" y="1238098"/>
            <a:ext cx="6178601" cy="514807"/>
          </a:xfrm>
          <a:prstGeom prst="rect">
            <a:avLst/>
          </a:prstGeom>
        </p:spPr>
      </p:pic>
      <p:sp>
        <p:nvSpPr>
          <p:cNvPr id="12" name="Text 4"/>
          <p:cNvSpPr txBox="1"/>
          <p:nvPr/>
        </p:nvSpPr>
        <p:spPr>
          <a:xfrm>
            <a:off x="8163763" y="1352398"/>
            <a:ext cx="353598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5E59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よくある質問</a:t>
            </a:r>
            <a:endParaRPr lang="en-US" sz="13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9"/>
          <a:srcRect l="-1064" r="-1064"/>
          <a:stretch/>
        </p:blipFill>
        <p:spPr>
          <a:xfrm>
            <a:off x="7869326" y="1411834"/>
            <a:ext cx="219456" cy="171907"/>
          </a:xfrm>
          <a:prstGeom prst="rect">
            <a:avLst/>
          </a:prstGeom>
        </p:spPr>
      </p:pic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10"/>
          <a:srcRect l="-4" r="-4"/>
          <a:stretch/>
        </p:blipFill>
        <p:spPr>
          <a:xfrm>
            <a:off x="5441594" y="1752905"/>
            <a:ext cx="6178601" cy="3962095"/>
          </a:xfrm>
          <a:prstGeom prst="rect">
            <a:avLst/>
          </a:prstGeom>
        </p:spPr>
      </p:pic>
      <p:sp>
        <p:nvSpPr>
          <p:cNvPr id="15" name="Shape 5"/>
          <p:cNvSpPr/>
          <p:nvPr/>
        </p:nvSpPr>
        <p:spPr>
          <a:xfrm>
            <a:off x="5680253" y="1990649"/>
            <a:ext cx="5705856" cy="1009498"/>
          </a:xfrm>
          <a:prstGeom prst="roundRect">
            <a:avLst>
              <a:gd name="adj" fmla="val 20509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5680253" y="1990649"/>
            <a:ext cx="57607" cy="1009498"/>
          </a:xfrm>
          <a:prstGeom prst="roundRect">
            <a:avLst>
              <a:gd name="adj" fmla="val 359390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5889650" y="2162556"/>
            <a:ext cx="256946" cy="228600"/>
          </a:xfrm>
          <a:prstGeom prst="roundRect">
            <a:avLst>
              <a:gd name="adj" fmla="val 13333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8" name="Text 8"/>
          <p:cNvSpPr txBox="1"/>
          <p:nvPr/>
        </p:nvSpPr>
        <p:spPr>
          <a:xfrm>
            <a:off x="5889650" y="2162556"/>
            <a:ext cx="333756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59669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Q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9" name="Text 9"/>
          <p:cNvSpPr txBox="1"/>
          <p:nvPr/>
        </p:nvSpPr>
        <p:spPr>
          <a:xfrm>
            <a:off x="6215177" y="2143354"/>
            <a:ext cx="2638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クーポンはいくつ作成できますか？</a:t>
            </a:r>
            <a:endParaRPr 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1" name="Text 11"/>
          <p:cNvSpPr txBox="1"/>
          <p:nvPr/>
        </p:nvSpPr>
        <p:spPr>
          <a:xfrm>
            <a:off x="6226759" y="2437334"/>
            <a:ext cx="49149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A.</a:t>
            </a:r>
            <a:r>
              <a:rPr lang="ja-JP" altLang="en-US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 </a:t>
            </a:r>
            <a:r>
              <a:rPr lang="en-US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最大 </a:t>
            </a:r>
            <a:r>
              <a:rPr lang="en-US" sz="1000" b="1" dirty="0">
                <a:solidFill>
                  <a:srgbClr val="059669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3個</a:t>
            </a:r>
            <a:r>
              <a:rPr lang="en-US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 まで登録可能です。季節や時間帯に合わせて使い分けることができます。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2" name="Shape 12"/>
          <p:cNvSpPr/>
          <p:nvPr/>
        </p:nvSpPr>
        <p:spPr>
          <a:xfrm>
            <a:off x="5680253" y="3152851"/>
            <a:ext cx="5705856" cy="1009498"/>
          </a:xfrm>
          <a:prstGeom prst="roundRect">
            <a:avLst>
              <a:gd name="adj" fmla="val 20509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Shape 13"/>
          <p:cNvSpPr/>
          <p:nvPr/>
        </p:nvSpPr>
        <p:spPr>
          <a:xfrm>
            <a:off x="5680253" y="3152851"/>
            <a:ext cx="57607" cy="1009498"/>
          </a:xfrm>
          <a:prstGeom prst="roundRect">
            <a:avLst>
              <a:gd name="adj" fmla="val 359390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4" name="Shape 14"/>
          <p:cNvSpPr/>
          <p:nvPr/>
        </p:nvSpPr>
        <p:spPr>
          <a:xfrm>
            <a:off x="5889650" y="3323844"/>
            <a:ext cx="256946" cy="228600"/>
          </a:xfrm>
          <a:prstGeom prst="roundRect">
            <a:avLst>
              <a:gd name="adj" fmla="val 13333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5" name="Text 15"/>
          <p:cNvSpPr txBox="1"/>
          <p:nvPr/>
        </p:nvSpPr>
        <p:spPr>
          <a:xfrm>
            <a:off x="5889650" y="3323844"/>
            <a:ext cx="333756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59669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Q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6" name="Text 16"/>
          <p:cNvSpPr txBox="1"/>
          <p:nvPr/>
        </p:nvSpPr>
        <p:spPr>
          <a:xfrm>
            <a:off x="6215177" y="3305556"/>
            <a:ext cx="14923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画像は必須ですか？</a:t>
            </a:r>
            <a:endParaRPr 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8" name="Text 18"/>
          <p:cNvSpPr txBox="1"/>
          <p:nvPr/>
        </p:nvSpPr>
        <p:spPr>
          <a:xfrm>
            <a:off x="6226759" y="3609137"/>
            <a:ext cx="49149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ja-JP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A.</a:t>
            </a:r>
            <a:r>
              <a:rPr lang="ja-JP" altLang="en-US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 </a:t>
            </a:r>
            <a:r>
              <a:rPr lang="en-US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必須ではありません。画像が未登録の場合は、システム側で用意した</a:t>
            </a:r>
            <a:r>
              <a:rPr lang="en-US" sz="1000" b="1" dirty="0">
                <a:solidFill>
                  <a:srgbClr val="37415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汎用画像（イラスト等）</a:t>
            </a:r>
            <a:r>
              <a:rPr lang="en-US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が表示されます。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9" name="Shape 19"/>
          <p:cNvSpPr/>
          <p:nvPr/>
        </p:nvSpPr>
        <p:spPr>
          <a:xfrm>
            <a:off x="5680253" y="4315054"/>
            <a:ext cx="5705856" cy="1009498"/>
          </a:xfrm>
          <a:prstGeom prst="roundRect">
            <a:avLst>
              <a:gd name="adj" fmla="val 20509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0" name="Shape 20"/>
          <p:cNvSpPr/>
          <p:nvPr/>
        </p:nvSpPr>
        <p:spPr>
          <a:xfrm>
            <a:off x="5680253" y="4315054"/>
            <a:ext cx="57607" cy="1009498"/>
          </a:xfrm>
          <a:prstGeom prst="roundRect">
            <a:avLst>
              <a:gd name="adj" fmla="val 359390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1" name="Shape 21"/>
          <p:cNvSpPr/>
          <p:nvPr/>
        </p:nvSpPr>
        <p:spPr>
          <a:xfrm>
            <a:off x="5889650" y="4486046"/>
            <a:ext cx="256946" cy="228600"/>
          </a:xfrm>
          <a:prstGeom prst="roundRect">
            <a:avLst>
              <a:gd name="adj" fmla="val 13333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2" name="Text 22"/>
          <p:cNvSpPr txBox="1"/>
          <p:nvPr/>
        </p:nvSpPr>
        <p:spPr>
          <a:xfrm>
            <a:off x="5889650" y="4486046"/>
            <a:ext cx="333756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59669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Q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3" name="Text 23"/>
          <p:cNvSpPr txBox="1"/>
          <p:nvPr/>
        </p:nvSpPr>
        <p:spPr>
          <a:xfrm>
            <a:off x="6215177" y="4466844"/>
            <a:ext cx="38895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登録内容</a:t>
            </a:r>
            <a:r>
              <a:rPr lang="ja-JP" altLang="en-US" sz="12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（クーポン内容、店舗情報）</a:t>
            </a:r>
            <a:r>
              <a:rPr lang="en-US" sz="1200" b="1" dirty="0" err="1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の修正はできますか</a:t>
            </a:r>
            <a:r>
              <a:rPr lang="en-US" sz="12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？</a:t>
            </a:r>
            <a:endParaRPr 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5" name="Text 25"/>
          <p:cNvSpPr txBox="1"/>
          <p:nvPr/>
        </p:nvSpPr>
        <p:spPr>
          <a:xfrm>
            <a:off x="6226759" y="4762196"/>
            <a:ext cx="49149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ja-JP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A. </a:t>
            </a:r>
            <a:r>
              <a:rPr lang="en-US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はい、</a:t>
            </a:r>
            <a:r>
              <a:rPr lang="en-US" sz="1000" b="1" dirty="0">
                <a:solidFill>
                  <a:srgbClr val="059669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いつでも管理画面から変更可能</a:t>
            </a:r>
            <a:r>
              <a:rPr lang="en-US" sz="1000" dirty="0">
                <a:solidFill>
                  <a:srgbClr val="4B556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です。メニュー変更や営業時間変更の際は、管理画面より更新をお願いします。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rcRect l="-19" r="-19"/>
          <a:stretch/>
        </p:blipFill>
        <p:spPr>
          <a:xfrm>
            <a:off x="571500" y="5943600"/>
            <a:ext cx="11048695" cy="761695"/>
          </a:xfrm>
          <a:prstGeom prst="rect">
            <a:avLst/>
          </a:prstGeom>
        </p:spPr>
      </p:pic>
      <p:sp>
        <p:nvSpPr>
          <p:cNvPr id="37" name="Shape 26"/>
          <p:cNvSpPr/>
          <p:nvPr/>
        </p:nvSpPr>
        <p:spPr>
          <a:xfrm>
            <a:off x="724205" y="6096305"/>
            <a:ext cx="457200" cy="457200"/>
          </a:xfrm>
          <a:prstGeom prst="ellipse">
            <a:avLst/>
          </a:prstGeom>
          <a:solidFill>
            <a:srgbClr val="10B981">
              <a:alpha val="6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12">
            <a:alphaModFix amt="68000"/>
          </a:blip>
          <a:srcRect/>
          <a:stretch/>
        </p:blipFill>
        <p:spPr>
          <a:xfrm>
            <a:off x="838505" y="6210605"/>
            <a:ext cx="228600" cy="228600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1333195" y="6096305"/>
            <a:ext cx="31345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1D5DB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ご不明な点はこちらまで</a:t>
            </a:r>
            <a:endParaRPr lang="en-US" sz="9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0" name="Text 28"/>
          <p:cNvSpPr txBox="1"/>
          <p:nvPr/>
        </p:nvSpPr>
        <p:spPr>
          <a:xfrm>
            <a:off x="1333195" y="6286500"/>
            <a:ext cx="349940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8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saitama.partners@tamanomi.com</a:t>
            </a:r>
            <a:endParaRPr 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1" name="Shape 29"/>
          <p:cNvSpPr/>
          <p:nvPr/>
        </p:nvSpPr>
        <p:spPr>
          <a:xfrm>
            <a:off x="9763049" y="6133795"/>
            <a:ext cx="9144" cy="381305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2" name="Text 30"/>
          <p:cNvSpPr txBox="1"/>
          <p:nvPr/>
        </p:nvSpPr>
        <p:spPr>
          <a:xfrm>
            <a:off x="9883750" y="6133795"/>
            <a:ext cx="158465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たまのみ運営事務局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3" name="Text 31"/>
          <p:cNvSpPr txBox="1"/>
          <p:nvPr/>
        </p:nvSpPr>
        <p:spPr>
          <a:xfrm>
            <a:off x="9883750" y="6362395"/>
            <a:ext cx="158465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株式会社つなぐ</a:t>
            </a:r>
            <a:endParaRPr lang="en-US" sz="9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4" name="Shape 32"/>
          <p:cNvSpPr/>
          <p:nvPr/>
        </p:nvSpPr>
        <p:spPr>
          <a:xfrm>
            <a:off x="1037844" y="2467051"/>
            <a:ext cx="38405" cy="209398"/>
          </a:xfrm>
          <a:prstGeom prst="rect">
            <a:avLst/>
          </a:prstGeom>
          <a:solidFill>
            <a:srgbClr val="A7F3D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1990649"/>
            <a:ext cx="457200" cy="457200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780898" y="1990649"/>
            <a:ext cx="5148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1</a:t>
            </a:r>
            <a:endParaRPr lang="en-US" sz="15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7" name="Text 34"/>
          <p:cNvSpPr txBox="1"/>
          <p:nvPr/>
        </p:nvSpPr>
        <p:spPr>
          <a:xfrm>
            <a:off x="1419149" y="2029054"/>
            <a:ext cx="240761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店舗情報・クーポン登録完了</a:t>
            </a:r>
            <a:endParaRPr lang="en-US" sz="13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8" name="Text 35"/>
          <p:cNvSpPr txBox="1"/>
          <p:nvPr/>
        </p:nvSpPr>
        <p:spPr>
          <a:xfrm>
            <a:off x="1419149" y="2295144"/>
            <a:ext cx="240761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全ての入力を終えた状態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9" name="Shape 36"/>
          <p:cNvSpPr/>
          <p:nvPr/>
        </p:nvSpPr>
        <p:spPr>
          <a:xfrm>
            <a:off x="1037844" y="3191256"/>
            <a:ext cx="38405" cy="209398"/>
          </a:xfrm>
          <a:prstGeom prst="rect">
            <a:avLst/>
          </a:prstGeom>
          <a:solidFill>
            <a:srgbClr val="A7F3D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09244" y="2714854"/>
            <a:ext cx="457200" cy="457200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780898" y="2714854"/>
            <a:ext cx="5148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B98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2</a:t>
            </a:r>
            <a:endParaRPr lang="en-US" sz="15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2" name="Text 38"/>
          <p:cNvSpPr txBox="1"/>
          <p:nvPr/>
        </p:nvSpPr>
        <p:spPr>
          <a:xfrm>
            <a:off x="1419149" y="2711704"/>
            <a:ext cx="136885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事務局確認</a:t>
            </a:r>
            <a:endParaRPr lang="en-US" sz="13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3" name="Text 39"/>
          <p:cNvSpPr txBox="1"/>
          <p:nvPr/>
        </p:nvSpPr>
        <p:spPr>
          <a:xfrm>
            <a:off x="1419148" y="2978708"/>
            <a:ext cx="1940357" cy="212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通常 </a:t>
            </a:r>
            <a:r>
              <a:rPr lang="ja-JP" altLang="en-US" sz="1000" b="1" dirty="0">
                <a:solidFill>
                  <a:srgbClr val="059669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約５～７営業日間</a:t>
            </a:r>
            <a:r>
              <a:rPr lang="en-US" sz="1000" dirty="0">
                <a:solidFill>
                  <a:srgbClr val="6B728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 程度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4" name="Shape 40"/>
          <p:cNvSpPr/>
          <p:nvPr/>
        </p:nvSpPr>
        <p:spPr>
          <a:xfrm>
            <a:off x="1037844" y="3914546"/>
            <a:ext cx="38405" cy="209398"/>
          </a:xfrm>
          <a:prstGeom prst="rect">
            <a:avLst/>
          </a:prstGeom>
          <a:solidFill>
            <a:srgbClr val="A7F3D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5" name="Image 12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09244" y="3438144"/>
            <a:ext cx="457200" cy="457200"/>
          </a:xfrm>
          <a:prstGeom prst="rect">
            <a:avLst/>
          </a:prstGeom>
        </p:spPr>
      </p:pic>
      <p:sp>
        <p:nvSpPr>
          <p:cNvPr id="56" name="Text 41"/>
          <p:cNvSpPr/>
          <p:nvPr/>
        </p:nvSpPr>
        <p:spPr>
          <a:xfrm>
            <a:off x="780898" y="3438144"/>
            <a:ext cx="5148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B98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3</a:t>
            </a:r>
            <a:endParaRPr lang="en-US" sz="15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7" name="Text 42"/>
          <p:cNvSpPr txBox="1"/>
          <p:nvPr/>
        </p:nvSpPr>
        <p:spPr>
          <a:xfrm>
            <a:off x="1419149" y="3435909"/>
            <a:ext cx="240761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ステッカー・マニュアル発送</a:t>
            </a:r>
            <a:endParaRPr lang="en-US" sz="13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8" name="Text 43"/>
          <p:cNvSpPr txBox="1"/>
          <p:nvPr/>
        </p:nvSpPr>
        <p:spPr>
          <a:xfrm>
            <a:off x="1419149" y="3702914"/>
            <a:ext cx="240761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店舗宛に郵送いたします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9" name="Image 13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09244" y="4162349"/>
            <a:ext cx="457200" cy="457200"/>
          </a:xfrm>
          <a:prstGeom prst="rect">
            <a:avLst/>
          </a:prstGeom>
        </p:spPr>
      </p:pic>
      <p:pic>
        <p:nvPicPr>
          <p:cNvPr id="60" name="Image 14" descr="preencoded.png"/>
          <p:cNvPicPr>
            <a:picLocks noChangeAspect="1"/>
          </p:cNvPicPr>
          <p:nvPr/>
        </p:nvPicPr>
        <p:blipFill>
          <a:blip r:embed="rId15"/>
          <a:srcRect l="-1648" r="-1648"/>
          <a:stretch/>
        </p:blipFill>
        <p:spPr>
          <a:xfrm>
            <a:off x="952805" y="4295851"/>
            <a:ext cx="171907" cy="190195"/>
          </a:xfrm>
          <a:prstGeom prst="rect">
            <a:avLst/>
          </a:prstGeom>
        </p:spPr>
      </p:pic>
      <p:sp>
        <p:nvSpPr>
          <p:cNvPr id="61" name="Text 44"/>
          <p:cNvSpPr txBox="1"/>
          <p:nvPr/>
        </p:nvSpPr>
        <p:spPr>
          <a:xfrm>
            <a:off x="1419149" y="4170274"/>
            <a:ext cx="24487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4785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掲載開始！</a:t>
            </a:r>
            <a:endParaRPr lang="en-US" sz="15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2" name="Text 45"/>
          <p:cNvSpPr txBox="1"/>
          <p:nvPr/>
        </p:nvSpPr>
        <p:spPr>
          <a:xfrm>
            <a:off x="1419149" y="4436364"/>
            <a:ext cx="24487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Zen Maru Gothic" pitchFamily="34" charset="-120"/>
              </a:rPr>
              <a:t>ステッカーを店頭に掲示してください</a:t>
            </a:r>
            <a:endParaRPr 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34E466AE-3F8B-B497-7453-CF256D6C3A58}"/>
              </a:ext>
            </a:extLst>
          </p:cNvPr>
          <p:cNvSpPr txBox="1"/>
          <p:nvPr/>
        </p:nvSpPr>
        <p:spPr>
          <a:xfrm>
            <a:off x="872848" y="4817160"/>
            <a:ext cx="3841392" cy="7455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1000" dirty="0">
                <a:solidFill>
                  <a:srgbClr val="369579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たまのみ掲載店のご登録ありがとうございます。</a:t>
            </a:r>
            <a:endParaRPr lang="en-US" altLang="ja-JP" sz="1000" dirty="0">
              <a:solidFill>
                <a:srgbClr val="369579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000" dirty="0">
                <a:solidFill>
                  <a:srgbClr val="369579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たまのみを通じて、多くのお客様にご来店いただけることを</a:t>
            </a:r>
            <a:endParaRPr lang="en-US" altLang="ja-JP" sz="1000" dirty="0">
              <a:solidFill>
                <a:srgbClr val="369579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000" dirty="0">
                <a:solidFill>
                  <a:srgbClr val="369579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願っております。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987</Words>
  <Application>Microsoft Office PowerPoint</Application>
  <PresentationFormat>ワイド画面</PresentationFormat>
  <Paragraphs>252</Paragraphs>
  <Slides>9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2" baseType="lpstr">
      <vt:lpstr>BIZ UDPゴシック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善生 憲司</cp:lastModifiedBy>
  <cp:revision>6</cp:revision>
  <dcterms:created xsi:type="dcterms:W3CDTF">2026-03-13T01:19:13Z</dcterms:created>
  <dcterms:modified xsi:type="dcterms:W3CDTF">2026-03-13T08:37:57Z</dcterms:modified>
</cp:coreProperties>
</file>